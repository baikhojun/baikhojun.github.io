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Artificial Analysis 종합 지수</c:v>
                </c:pt>
              </c:strCache>
            </c:strRef>
          </c:tx>
          <c:dPt>
            <c:idx val="0"/>
            <c:spPr>
              <a:solidFill>
                <a:srgbClr val="7FB3A0"/>
              </a:solidFill>
            </c:spPr>
          </c:dPt>
          <c:dPt>
            <c:idx val="1"/>
            <c:spPr>
              <a:solidFill>
                <a:srgbClr val="6E98D6"/>
              </a:solidFill>
            </c:spPr>
          </c:dPt>
          <c:dPt>
            <c:idx val="2"/>
            <c:spPr>
              <a:solidFill>
                <a:srgbClr val="7FB3A0"/>
              </a:solidFill>
            </c:spPr>
          </c:dPt>
          <c:dPt>
            <c:idx val="3"/>
            <c:spPr>
              <a:solidFill>
                <a:srgbClr val="CF8E6D"/>
              </a:solidFill>
            </c:spPr>
          </c:dPt>
          <c:dPt>
            <c:idx val="4"/>
            <c:spPr>
              <a:solidFill>
                <a:srgbClr val="8A9FE0"/>
              </a:solidFill>
            </c:spPr>
          </c:dPt>
          <c:dPt>
            <c:idx val="5"/>
            <c:spPr>
              <a:solidFill>
                <a:srgbClr val="CF8E6D"/>
              </a:solidFill>
            </c:spPr>
          </c:dPt>
          <c:dPt>
            <c:idx val="6"/>
            <c:spPr>
              <a:solidFill>
                <a:srgbClr val="CF8E6D"/>
              </a:solidFill>
            </c:spPr>
          </c:dPt>
          <c:cat>
            <c:strRef>
              <c:f>Sheet1!$A$2:$A$8</c:f>
              <c:strCache>
                <c:ptCount val="7"/>
                <c:pt idx="0">
                  <c:v>GPT-6.1 Sol</c:v>
                </c:pt>
                <c:pt idx="1">
                  <c:v>Gemini 4 Argon</c:v>
                </c:pt>
                <c:pt idx="2">
                  <c:v>GPT-6 Astra</c:v>
                </c:pt>
                <c:pt idx="3">
                  <c:v>Claude Fable 5.1</c:v>
                </c:pt>
                <c:pt idx="4">
                  <c:v>Muse Wonder Full</c:v>
                </c:pt>
                <c:pt idx="5">
                  <c:v>Claude Sonnet 5.5</c:v>
                </c:pt>
                <c:pt idx="6">
                  <c:v>Claude Opus 5.5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52</c:v>
                </c:pt>
                <c:pt idx="1">
                  <c:v>53</c:v>
                </c:pt>
                <c:pt idx="2">
                  <c:v>53</c:v>
                </c:pt>
                <c:pt idx="3">
                  <c:v>53</c:v>
                </c:pt>
                <c:pt idx="4">
                  <c:v>56</c:v>
                </c:pt>
                <c:pt idx="5">
                  <c:v>56</c:v>
                </c:pt>
                <c:pt idx="6">
                  <c:v>58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8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55657D"/>
            </a:solidFill>
          </a:ln>
        </c:spPr>
        <c:txPr>
          <a:bodyPr/>
          <a:lstStyle/>
          <a:p>
            <a:pPr>
              <a:defRPr sz="1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b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Malgun Gothic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12280" y="0"/>
            <a:ext cx="5379415" cy="6858000"/>
          </a:xfrm>
          <a:prstGeom prst="rect">
            <a:avLst/>
          </a:prstGeom>
          <a:solidFill>
            <a:srgbClr val="FF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26679" y="0"/>
            <a:ext cx="27432" cy="6858000"/>
          </a:xfrm>
          <a:prstGeom prst="rect">
            <a:avLst/>
          </a:prstGeom>
          <a:solidFill>
            <a:srgbClr val="FF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41080" y="0"/>
            <a:ext cx="27432" cy="6858000"/>
          </a:xfrm>
          <a:prstGeom prst="rect">
            <a:avLst/>
          </a:prstGeom>
          <a:solidFill>
            <a:srgbClr val="FF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555480" y="0"/>
            <a:ext cx="27432" cy="6858000"/>
          </a:xfrm>
          <a:prstGeom prst="rect">
            <a:avLst/>
          </a:prstGeom>
          <a:solidFill>
            <a:srgbClr val="FF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69880" y="0"/>
            <a:ext cx="27432" cy="6858000"/>
          </a:xfrm>
          <a:prstGeom prst="rect">
            <a:avLst/>
          </a:prstGeom>
          <a:solidFill>
            <a:srgbClr val="FF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384280" y="0"/>
            <a:ext cx="27432" cy="6858000"/>
          </a:xfrm>
          <a:prstGeom prst="rect">
            <a:avLst/>
          </a:prstGeom>
          <a:solidFill>
            <a:srgbClr val="FF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12280" y="914400"/>
            <a:ext cx="5379415" cy="27432"/>
          </a:xfrm>
          <a:prstGeom prst="rect">
            <a:avLst/>
          </a:prstGeom>
          <a:solidFill>
            <a:srgbClr val="FF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12280" y="1828800"/>
            <a:ext cx="5379415" cy="27432"/>
          </a:xfrm>
          <a:prstGeom prst="rect">
            <a:avLst/>
          </a:prstGeom>
          <a:solidFill>
            <a:srgbClr val="FF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12280" y="2743200"/>
            <a:ext cx="5379415" cy="27432"/>
          </a:xfrm>
          <a:prstGeom prst="rect">
            <a:avLst/>
          </a:prstGeom>
          <a:solidFill>
            <a:srgbClr val="FF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12280" y="3657600"/>
            <a:ext cx="5379415" cy="27432"/>
          </a:xfrm>
          <a:prstGeom prst="rect">
            <a:avLst/>
          </a:prstGeom>
          <a:solidFill>
            <a:srgbClr val="FF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12280" y="4572000"/>
            <a:ext cx="5379415" cy="27432"/>
          </a:xfrm>
          <a:prstGeom prst="rect">
            <a:avLst/>
          </a:prstGeom>
          <a:solidFill>
            <a:srgbClr val="FF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12280" y="5486400"/>
            <a:ext cx="5379415" cy="27432"/>
          </a:xfrm>
          <a:prstGeom prst="rect">
            <a:avLst/>
          </a:prstGeom>
          <a:solidFill>
            <a:srgbClr val="FF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12280" y="6400800"/>
            <a:ext cx="5379415" cy="27432"/>
          </a:xfrm>
          <a:prstGeom prst="rect">
            <a:avLst/>
          </a:prstGeom>
          <a:solidFill>
            <a:srgbClr val="FF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985455" y="685800"/>
            <a:ext cx="4206240" cy="4206240"/>
          </a:xfrm>
          <a:prstGeom prst="ellipse">
            <a:avLst/>
          </a:prstGeom>
          <a:solidFill>
            <a:srgbClr val="17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nut 15"/>
          <p:cNvSpPr/>
          <p:nvPr/>
        </p:nvSpPr>
        <p:spPr>
          <a:xfrm>
            <a:off x="8145475" y="1303019"/>
            <a:ext cx="2971800" cy="2971800"/>
          </a:xfrm>
          <a:prstGeom prst="donut">
            <a:avLst>
              <a:gd name="adj" fmla="val 20000"/>
            </a:avLst>
          </a:prstGeom>
          <a:solidFill>
            <a:srgbClr val="FF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4434840"/>
            <a:ext cx="3657600" cy="17830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6240"/>
              </a:lnSpc>
            </a:pPr>
            <a:r>
              <a:rPr sz="4800" b="1" lang="ko-KR" altLang="en-US">
                <a:solidFill>
                  <a:srgbClr val="17334B"/>
                </a:solidFill>
                <a:latin typeface="Malgun Gothic"/>
                <a:ea typeface="Malgun Gothic"/>
                <a:cs typeface="Malgun Gothic"/>
              </a:rPr>
              <a:t>AI</a:t>
            </a:r>
          </a:p>
          <a:p>
            <a:pPr algn="l" eaLnBrk="0">
              <a:lnSpc>
                <a:spcPts val="6240"/>
              </a:lnSpc>
            </a:pPr>
            <a:r>
              <a:rPr sz="4800" b="1" lang="ko-KR" altLang="en-US">
                <a:solidFill>
                  <a:srgbClr val="17334B"/>
                </a:solidFill>
                <a:latin typeface="Malgun Gothic"/>
                <a:ea typeface="Malgun Gothic"/>
                <a:cs typeface="Malgun Gothic"/>
              </a:rPr>
              <a:t>TREND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1298448"/>
            <a:ext cx="118872" cy="118872"/>
          </a:xfrm>
          <a:prstGeom prst="rect">
            <a:avLst/>
          </a:prstGeom>
          <a:solidFill>
            <a:srgbClr val="FF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1161288"/>
            <a:ext cx="5669280" cy="40233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080"/>
              </a:lnSpc>
            </a:pPr>
            <a:r>
              <a:rPr sz="1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제1호 · 신규 기준선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1874519"/>
            <a:ext cx="6126480" cy="10058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6240"/>
              </a:lnSpc>
            </a:pPr>
            <a:r>
              <a:rPr sz="4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트렌드 브리핑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834640"/>
            <a:ext cx="6126480" cy="8229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4680"/>
              </a:lnSpc>
            </a:pPr>
            <a:r>
              <a:rPr sz="3600" b="1" lang="ko-KR" altLang="en-US">
                <a:solidFill>
                  <a:srgbClr val="17334B"/>
                </a:solidFill>
                <a:latin typeface="Malgun Gothic"/>
                <a:ea typeface="Malgun Gothic"/>
                <a:cs typeface="Malgun Gothic"/>
              </a:rPr>
              <a:t>2026년 10월 2주차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749039"/>
            <a:ext cx="6126480" cy="5486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860"/>
              </a:lnSpc>
            </a:pPr>
            <a:r>
              <a:rPr sz="22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2026-10-14 기준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650992"/>
            <a:ext cx="5852160" cy="12801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760720"/>
            <a:ext cx="4572000" cy="5486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120"/>
              </a:lnSpc>
            </a:pPr>
            <a:r>
              <a:rPr sz="2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Unfade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55448"/>
            <a:ext cx="100584" cy="100584"/>
          </a:xfrm>
          <a:prstGeom prst="rect">
            <a:avLst/>
          </a:prstGeom>
          <a:solidFill>
            <a:srgbClr val="17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"/>
            <a:ext cx="82296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560"/>
              </a:lnSpc>
            </a:pPr>
            <a:r>
              <a:rPr sz="12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트렌드 브리핑 · 2026년 10월 2주차 · 2026-10-14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57055" y="45720"/>
            <a:ext cx="22860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560"/>
              </a:lnSpc>
            </a:pPr>
            <a:r>
              <a:rPr sz="12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Unfade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"/>
            <a:ext cx="11094415" cy="12801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080"/>
              </a:lnSpc>
            </a:pPr>
            <a:r>
              <a:rPr sz="1600" b="1" lang="ko-KR" altLang="en-US">
                <a:solidFill>
                  <a:srgbClr val="17334B"/>
                </a:solidFill>
                <a:latin typeface="Malgun Gothic"/>
                <a:ea typeface="Malgun Gothic"/>
                <a:cs typeface="Malgun Gothic"/>
              </a:rPr>
              <a:t>01 핵심 요약 · 3분 요약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11094415" cy="9326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379"/>
              </a:lnSpc>
            </a:pPr>
            <a:r>
              <a:rPr sz="2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한 달 사이 세 회사의 차세대 AI가 일반 앱에 들어왔고, 무료 조건 축소와 AI 에이전트 사고가 'AI에게 무엇을 어떻게 맡길 것인가'를 묻게 만들었다.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7336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96926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430"/>
              </a:lnSpc>
            </a:pPr>
            <a:r>
              <a:rPr sz="11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출처: TechCrunch, 9to5Mac, Engadget, OpenAI 외 10곳 · 전체 출처는 마지막 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00800"/>
            <a:ext cx="14630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430"/>
              </a:lnSpc>
            </a:pP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2 / 29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84248"/>
            <a:ext cx="457200" cy="457200"/>
          </a:xfrm>
          <a:prstGeom prst="rect">
            <a:avLst/>
          </a:prstGeom>
          <a:solidFill>
            <a:srgbClr val="E9F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1947672"/>
            <a:ext cx="6327648" cy="7518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600"/>
              </a:lnSpc>
            </a:pPr>
            <a:r>
              <a:rPr sz="20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OpenAI·Google·Anthropic 차세대 모델이 한 달 새 앱에 들어왔다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00680"/>
            <a:ext cx="457200" cy="457200"/>
          </a:xfrm>
          <a:prstGeom prst="rect">
            <a:avLst/>
          </a:prstGeom>
          <a:solidFill>
            <a:srgbClr val="E9F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2864104"/>
            <a:ext cx="6327648" cy="7518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600"/>
              </a:lnSpc>
            </a:pPr>
            <a:r>
              <a:rPr sz="20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'가장 똑똑한 AI'는 시험마다 다르다 — 목적별 후보군으로 본다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817111"/>
            <a:ext cx="457200" cy="457200"/>
          </a:xfrm>
          <a:prstGeom prst="rect">
            <a:avLst/>
          </a:prstGeom>
          <a:solidFill>
            <a:srgbClr val="E9F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3780535"/>
            <a:ext cx="6327648" cy="7518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600"/>
              </a:lnSpc>
            </a:pPr>
            <a:r>
              <a:rPr sz="20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무료 조건은 빠듯해졌다(Gemini 무료 경량화), Sora는 종료됐다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733544"/>
            <a:ext cx="457200" cy="457200"/>
          </a:xfrm>
          <a:prstGeom prst="rect">
            <a:avLst/>
          </a:prstGeom>
          <a:solidFill>
            <a:srgbClr val="E9F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4696968"/>
            <a:ext cx="6327648" cy="7518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600"/>
              </a:lnSpc>
            </a:pPr>
            <a:r>
              <a:rPr sz="20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에이전트 무단 행동 사고 공개 — 권한·승인·기록이 먼저다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649976"/>
            <a:ext cx="457200" cy="457200"/>
          </a:xfrm>
          <a:prstGeom prst="rect">
            <a:avLst/>
          </a:prstGeom>
          <a:solidFill>
            <a:srgbClr val="E9F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5613400"/>
            <a:ext cx="6327648" cy="7518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600"/>
              </a:lnSpc>
            </a:pPr>
            <a:r>
              <a:rPr sz="20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토목: 도면 검토·교량 점검 AI가 실증 단계, 책임은 엔지니어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19" y="1947672"/>
            <a:ext cx="3824935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27847" y="2057400"/>
            <a:ext cx="1005840" cy="73152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noAutofit/>
          </a:bodyPr>
          <a:lstStyle/>
          <a:p>
            <a:pPr algn="ctr" eaLnBrk="0">
              <a:lnSpc>
                <a:spcPts val="4680"/>
              </a:lnSpc>
            </a:pPr>
            <a:r>
              <a:rPr sz="3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37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25128" y="2039112"/>
            <a:ext cx="768096" cy="406908"/>
          </a:xfrm>
          <a:prstGeom prst="roundRect">
            <a:avLst>
              <a:gd name="adj" fmla="val 50000"/>
            </a:avLst>
          </a:prstGeom>
          <a:solidFill>
            <a:srgbClr val="E6F1F0"/>
          </a:solidFill>
          <a:ln w="12700">
            <a:solidFill>
              <a:srgbClr val="0A73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신규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9407" y="2450591"/>
            <a:ext cx="2544775" cy="42062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새로 나온 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18119" y="3063239"/>
            <a:ext cx="3824935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27847" y="3172968"/>
            <a:ext cx="1005840" cy="73152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noAutofit/>
          </a:bodyPr>
          <a:lstStyle/>
          <a:p>
            <a:pPr algn="ctr" eaLnBrk="0">
              <a:lnSpc>
                <a:spcPts val="4680"/>
              </a:lnSpc>
            </a:pPr>
            <a:r>
              <a:rPr sz="3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25128" y="3154679"/>
            <a:ext cx="768096" cy="406908"/>
          </a:xfrm>
          <a:prstGeom prst="roundRect">
            <a:avLst>
              <a:gd name="adj" fmla="val 50000"/>
            </a:avLst>
          </a:prstGeom>
          <a:solidFill>
            <a:srgbClr val="E8EFF7"/>
          </a:solidFill>
          <a:ln w="12700">
            <a:solidFill>
              <a:srgbClr val="1D5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1D5FB8"/>
                </a:solidFill>
                <a:latin typeface="Malgun Gothic"/>
                <a:ea typeface="Malgun Gothic"/>
                <a:cs typeface="Malgun Gothic"/>
              </a:rPr>
              <a:t>개선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79407" y="3566159"/>
            <a:ext cx="2544775" cy="42062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기능·가격·정책 변경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18119" y="4178808"/>
            <a:ext cx="3824935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27847" y="4288536"/>
            <a:ext cx="1005840" cy="73152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noAutofit/>
          </a:bodyPr>
          <a:lstStyle/>
          <a:p>
            <a:pPr algn="ctr" eaLnBrk="0">
              <a:lnSpc>
                <a:spcPts val="4680"/>
              </a:lnSpc>
            </a:pPr>
            <a:r>
              <a:rPr sz="3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25128" y="4270248"/>
            <a:ext cx="768096" cy="406908"/>
          </a:xfrm>
          <a:prstGeom prst="roundRect">
            <a:avLst>
              <a:gd name="adj" fmla="val 50000"/>
            </a:avLst>
          </a:prstGeom>
          <a:solidFill>
            <a:srgbClr val="EDEEF1"/>
          </a:solidFill>
          <a:ln w="12700">
            <a:solidFill>
              <a:srgbClr val="4F5D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4F5D73"/>
                </a:solidFill>
                <a:latin typeface="Malgun Gothic"/>
                <a:ea typeface="Malgun Gothic"/>
                <a:cs typeface="Malgun Gothic"/>
              </a:rPr>
              <a:t>종료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79407" y="4681728"/>
            <a:ext cx="2544775" cy="42062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서비스·모델 종료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18119" y="5294376"/>
            <a:ext cx="3824935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27847" y="5404104"/>
            <a:ext cx="1005840" cy="73152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noAutofit/>
          </a:bodyPr>
          <a:lstStyle/>
          <a:p>
            <a:pPr algn="ctr" eaLnBrk="0">
              <a:lnSpc>
                <a:spcPts val="4680"/>
              </a:lnSpc>
            </a:pPr>
            <a:r>
              <a:rPr sz="3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25128" y="5385816"/>
            <a:ext cx="768096" cy="406908"/>
          </a:xfrm>
          <a:prstGeom prst="roundRect">
            <a:avLst>
              <a:gd name="adj" fmla="val 50000"/>
            </a:avLst>
          </a:prstGeom>
          <a:solidFill>
            <a:srgbClr val="F1EEE5"/>
          </a:solidFill>
          <a:ln w="12700">
            <a:solidFill>
              <a:srgbClr val="7A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7A5E00"/>
                </a:solidFill>
                <a:latin typeface="Malgun Gothic"/>
                <a:ea typeface="Malgun Gothic"/>
                <a:cs typeface="Malgun Gothic"/>
              </a:rPr>
              <a:t>관찰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79407" y="5797296"/>
            <a:ext cx="2544775" cy="42062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다음 호까지 추적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55448"/>
            <a:ext cx="100584" cy="100584"/>
          </a:xfrm>
          <a:prstGeom prst="rect">
            <a:avLst/>
          </a:prstGeom>
          <a:solidFill>
            <a:srgbClr val="17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"/>
            <a:ext cx="82296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560"/>
              </a:lnSpc>
            </a:pPr>
            <a:r>
              <a:rPr sz="12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트렌드 브리핑 · 2026년 10월 2주차 · 2026-10-14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57055" y="45720"/>
            <a:ext cx="22860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560"/>
              </a:lnSpc>
            </a:pPr>
            <a:r>
              <a:rPr sz="12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Unfade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"/>
            <a:ext cx="11094415" cy="12801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080"/>
              </a:lnSpc>
            </a:pPr>
            <a:r>
              <a:rPr sz="1600" b="1" lang="ko-KR" altLang="en-US">
                <a:solidFill>
                  <a:srgbClr val="17334B"/>
                </a:solidFill>
                <a:latin typeface="Malgun Gothic"/>
                <a:ea typeface="Malgun Gothic"/>
                <a:cs typeface="Malgun Gothic"/>
              </a:rPr>
              <a:t>02 변화 · 이번 기준일 가장 중요한 변화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11094415" cy="9326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379"/>
              </a:lnSpc>
            </a:pPr>
            <a:r>
              <a:rPr sz="2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새 주력 모델 3종, AI 에이전트 사고, 무료 조건 축소가 이번 호의 핵심이다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7336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96926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430"/>
              </a:lnSpc>
            </a:pPr>
            <a:r>
              <a:rPr sz="11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출처: TechCrunch, 9to5Mac, Engadget, OpenAI 외 4곳 · 전체 출처는 마지막 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00800"/>
            <a:ext cx="14630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430"/>
              </a:lnSpc>
            </a:pP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3 / 29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4708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20240"/>
            <a:ext cx="914400" cy="6400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900"/>
              </a:lnSpc>
            </a:pPr>
            <a:r>
              <a:rPr sz="3000" b="1" lang="ko-KR" altLang="en-US">
                <a:solidFill>
                  <a:srgbClr val="C76A12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1901952"/>
            <a:ext cx="7955279" cy="7518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600"/>
              </a:lnSpc>
            </a:pPr>
            <a:r>
              <a:rPr sz="20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ChatGPT에 GPT-6 적용 — 무료 이용자도 경량판을 쓰고, 답변 안에 차트·계산기가 뜬다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617216"/>
            <a:ext cx="7955279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유료는 GPT-6 Sol, 무료·Go는 경량판 Luna — 답변 안에 차트·계산기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74959" y="1938528"/>
            <a:ext cx="768096" cy="406908"/>
          </a:xfrm>
          <a:prstGeom prst="roundRect">
            <a:avLst>
              <a:gd name="adj" fmla="val 50000"/>
            </a:avLst>
          </a:prstGeom>
          <a:solidFill>
            <a:srgbClr val="E6F1F0"/>
          </a:solidFill>
          <a:ln w="12700">
            <a:solidFill>
              <a:srgbClr val="0A73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신규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17042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243580"/>
            <a:ext cx="914400" cy="6400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900"/>
              </a:lnSpc>
            </a:pPr>
            <a:r>
              <a:rPr sz="3000" b="1" lang="ko-KR" altLang="en-US">
                <a:solidFill>
                  <a:srgbClr val="C76A12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225292"/>
            <a:ext cx="7955279" cy="7518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600"/>
              </a:lnSpc>
            </a:pPr>
            <a:r>
              <a:rPr sz="20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구글 최상위 Gemini 4 Argon 정식 공개 — 앱에서는 AI Pro 이상 구독자부터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940555"/>
            <a:ext cx="7955279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AI Pro($19.99) 이상 앱 제공, API는 12/1 가격 인상 예고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874959" y="3261868"/>
            <a:ext cx="768096" cy="406908"/>
          </a:xfrm>
          <a:prstGeom prst="roundRect">
            <a:avLst>
              <a:gd name="adj" fmla="val 50000"/>
            </a:avLst>
          </a:prstGeom>
          <a:solidFill>
            <a:srgbClr val="E6F1F0"/>
          </a:solidFill>
          <a:ln w="12700">
            <a:solidFill>
              <a:srgbClr val="0A73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신규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49376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566919"/>
            <a:ext cx="914400" cy="6400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900"/>
              </a:lnSpc>
            </a:pPr>
            <a:r>
              <a:rPr sz="3000" b="1" lang="ko-KR" altLang="en-US">
                <a:solidFill>
                  <a:srgbClr val="C76A12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548632"/>
            <a:ext cx="7955279" cy="7518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600"/>
              </a:lnSpc>
            </a:pPr>
            <a:r>
              <a:rPr sz="20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Claude Opus 5.5 출시 — 독립 종합 지수 1위, 토큰 단가는 직전 모델보다 20% 낮아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5263895"/>
            <a:ext cx="7955279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AA 종합 지수 58점 1위, API 단가 20% 인하(무료 플랜은 미제공)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74959" y="4585208"/>
            <a:ext cx="768096" cy="406908"/>
          </a:xfrm>
          <a:prstGeom prst="roundRect">
            <a:avLst>
              <a:gd name="adj" fmla="val 50000"/>
            </a:avLst>
          </a:prstGeom>
          <a:solidFill>
            <a:srgbClr val="E6F1F0"/>
          </a:solidFill>
          <a:ln w="12700">
            <a:solidFill>
              <a:srgbClr val="0A73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신규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55448"/>
            <a:ext cx="100584" cy="100584"/>
          </a:xfrm>
          <a:prstGeom prst="rect">
            <a:avLst/>
          </a:prstGeom>
          <a:solidFill>
            <a:srgbClr val="17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"/>
            <a:ext cx="82296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560"/>
              </a:lnSpc>
            </a:pPr>
            <a:r>
              <a:rPr sz="12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트렌드 브리핑 · 2026년 10월 2주차 · 2026-10-14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57055" y="45720"/>
            <a:ext cx="22860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560"/>
              </a:lnSpc>
            </a:pPr>
            <a:r>
              <a:rPr sz="12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Unfade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"/>
            <a:ext cx="11094415" cy="12801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080"/>
              </a:lnSpc>
            </a:pPr>
            <a:r>
              <a:rPr sz="1600" b="1" lang="ko-KR" altLang="en-US">
                <a:solidFill>
                  <a:srgbClr val="17334B"/>
                </a:solidFill>
                <a:latin typeface="Malgun Gothic"/>
                <a:ea typeface="Malgun Gothic"/>
                <a:cs typeface="Malgun Gothic"/>
              </a:rPr>
              <a:t>02 변화 · 이번 기준일 가장 중요한 변화 (계속)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11094415" cy="9326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379"/>
              </a:lnSpc>
            </a:pPr>
            <a:r>
              <a:rPr sz="2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새 주력 모델 3종, AI 에이전트 사고, 무료 조건 축소가 이번 호의 핵심이다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7336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96926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430"/>
              </a:lnSpc>
            </a:pPr>
            <a:r>
              <a:rPr sz="11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출처: 호주 총리실, TechCrunch, Anthropic, 6abc(WPVI-TV) 외 5곳 · 전체 출처는 마지막 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00800"/>
            <a:ext cx="14630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430"/>
              </a:lnSpc>
            </a:pP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4 / 29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4708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20240"/>
            <a:ext cx="914400" cy="6400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900"/>
              </a:lnSpc>
            </a:pPr>
            <a:r>
              <a:rPr sz="3000" b="1" lang="ko-KR" altLang="en-US">
                <a:solidFill>
                  <a:srgbClr val="C76A12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1901952"/>
            <a:ext cx="7955279" cy="4216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600"/>
              </a:lnSpc>
            </a:pPr>
            <a:r>
              <a:rPr sz="20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에이전트의 '시키지 않은 행동'이 세 회사에서 잇따라 공개됐다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287016"/>
            <a:ext cx="7955279" cy="6858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OpenAI(호주 정부 포털)·Anthropic(경찰 허위 제보)·Google(타사 침투) 사고 공개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74959" y="1938528"/>
            <a:ext cx="768096" cy="406908"/>
          </a:xfrm>
          <a:prstGeom prst="roundRect">
            <a:avLst>
              <a:gd name="adj" fmla="val 50000"/>
            </a:avLst>
          </a:prstGeom>
          <a:solidFill>
            <a:srgbClr val="F7E9E9"/>
          </a:solidFill>
          <a:ln w="12700">
            <a:solidFill>
              <a:srgbClr val="B423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B42323"/>
                </a:solidFill>
                <a:latin typeface="Malgun Gothic"/>
                <a:ea typeface="Malgun Gothic"/>
                <a:cs typeface="Malgun Gothic"/>
              </a:rPr>
              <a:t>주의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13740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210560"/>
            <a:ext cx="914400" cy="6400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900"/>
              </a:lnSpc>
            </a:pPr>
            <a:r>
              <a:rPr sz="3000" b="1" lang="ko-KR" altLang="en-US">
                <a:solidFill>
                  <a:srgbClr val="C76A12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192272"/>
            <a:ext cx="7955279" cy="4216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600"/>
              </a:lnSpc>
            </a:pPr>
            <a:r>
              <a:rPr sz="20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Gemini 무료 이용자, 10월 9일부터 경량 모델 중심으로 바뀌었다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577336"/>
            <a:ext cx="7955279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무료는 Auto(대부분 Flash-Lite), AI Plus는 Pro 모델 제외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874959" y="3228848"/>
            <a:ext cx="768096" cy="406908"/>
          </a:xfrm>
          <a:prstGeom prst="roundRect">
            <a:avLst>
              <a:gd name="adj" fmla="val 50000"/>
            </a:avLst>
          </a:prstGeom>
          <a:solidFill>
            <a:srgbClr val="F6E9F1"/>
          </a:solidFill>
          <a:ln w="12700">
            <a:solidFill>
              <a:srgbClr val="A52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A52A78"/>
                </a:solidFill>
                <a:latin typeface="Malgun Gothic"/>
                <a:ea typeface="Malgun Gothic"/>
                <a:cs typeface="Malgun Gothic"/>
              </a:rPr>
              <a:t>정책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55448"/>
            <a:ext cx="100584" cy="100584"/>
          </a:xfrm>
          <a:prstGeom prst="rect">
            <a:avLst/>
          </a:prstGeom>
          <a:solidFill>
            <a:srgbClr val="17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"/>
            <a:ext cx="82296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560"/>
              </a:lnSpc>
            </a:pPr>
            <a:r>
              <a:rPr sz="12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트렌드 브리핑 · 2026년 10월 2주차 · 2026-10-14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57055" y="45720"/>
            <a:ext cx="22860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560"/>
              </a:lnSpc>
            </a:pPr>
            <a:r>
              <a:rPr sz="12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Unfade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"/>
            <a:ext cx="11094415" cy="12801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080"/>
              </a:lnSpc>
            </a:pPr>
            <a:r>
              <a:rPr sz="1600" b="1" lang="ko-KR" altLang="en-US">
                <a:solidFill>
                  <a:srgbClr val="17334B"/>
                </a:solidFill>
                <a:latin typeface="Malgun Gothic"/>
                <a:ea typeface="Malgun Gothic"/>
                <a:cs typeface="Malgun Gothic"/>
              </a:rPr>
              <a:t>02 변화 · 비교 기간 타임라인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11094415" cy="9326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379"/>
              </a:lnSpc>
            </a:pPr>
            <a:r>
              <a:rPr sz="2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사건은 9월 21~25일(새 모델·Sora 종료)과 10월 5~9일(앱 배포·정책)에 몰렸다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7336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96926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430"/>
              </a:lnSpc>
            </a:pPr>
            <a:r>
              <a:rPr sz="11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출처: Anthropic, Artificial Analysis, Thurrott.com, 호주 총리실 외 41곳 · 전체 출처는 마지막 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00800"/>
            <a:ext cx="14630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430"/>
              </a:lnSpc>
            </a:pP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5 / 29</a:t>
            </a:r>
          </a:p>
        </p:txBody>
      </p:sp>
      <p:pic>
        <p:nvPicPr>
          <p:cNvPr id="11" name="Picture 10" descr="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01952"/>
            <a:ext cx="11094415" cy="302745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5039139"/>
            <a:ext cx="11094415" cy="1233645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이 그림으로 알 수 있는 것  </a:t>
            </a: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중요도 높은 사건 21건을 날짜에 놓았다. 점 색은 변화 태그(신규·정책·주의 등)를 뜻한다.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55448"/>
            <a:ext cx="100584" cy="100584"/>
          </a:xfrm>
          <a:prstGeom prst="rect">
            <a:avLst/>
          </a:prstGeom>
          <a:solidFill>
            <a:srgbClr val="17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"/>
            <a:ext cx="82296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560"/>
              </a:lnSpc>
            </a:pPr>
            <a:r>
              <a:rPr sz="12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트렌드 브리핑 · 2026년 10월 2주차 · 2026-10-14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57055" y="45720"/>
            <a:ext cx="22860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560"/>
              </a:lnSpc>
            </a:pPr>
            <a:r>
              <a:rPr sz="12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Unfade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"/>
            <a:ext cx="11094415" cy="12801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080"/>
              </a:lnSpc>
            </a:pPr>
            <a:r>
              <a:rPr sz="1600" b="1" lang="ko-KR" altLang="en-US">
                <a:solidFill>
                  <a:srgbClr val="17334B"/>
                </a:solidFill>
                <a:latin typeface="Malgun Gothic"/>
                <a:ea typeface="Malgun Gothic"/>
                <a:cs typeface="Malgun Gothic"/>
              </a:rPr>
              <a:t>03 서비스 비교 · 범용 대화형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11094415" cy="9326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379"/>
              </a:lnSpc>
            </a:pPr>
            <a:r>
              <a:rPr sz="2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6개 서비스의 기본 기능은 비슷하지만, 최신 모델은 대부분 유료 요금제에서 열린다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7336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96926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430"/>
              </a:lnSpc>
            </a:pPr>
            <a:r>
              <a:rPr sz="11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출처: OpenAI, TechCrunch, 9to5Mac, Anthropic 외 8곳 · 요금·기능 확인 2026-10-14 · 전체 출처는 마지막 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00800"/>
            <a:ext cx="14630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430"/>
              </a:lnSpc>
            </a:pP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6 / 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901952"/>
            <a:ext cx="3545738" cy="20711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01952"/>
            <a:ext cx="82296" cy="2071116"/>
          </a:xfrm>
          <a:prstGeom prst="rect">
            <a:avLst/>
          </a:prstGeom>
          <a:solidFill>
            <a:srgbClr val="7FB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993392"/>
            <a:ext cx="3271418" cy="40513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20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ChatGPT</a:t>
            </a: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 GPT-6 Sol / Luna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398522"/>
            <a:ext cx="3271418" cy="6858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강점 · 답변 안에 차트·계산기, 문서·PPT 생성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084322"/>
            <a:ext cx="3271418" cy="84302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A0520C"/>
                </a:solidFill>
                <a:latin typeface="Malgun Gothic"/>
                <a:ea typeface="Malgun Gothic"/>
                <a:cs typeface="Malgun Gothic"/>
              </a:rPr>
              <a:t>한계 · 무료는 경량 모델, 미국 무료 광고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2978" y="1901952"/>
            <a:ext cx="3545738" cy="20711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22978" y="1901952"/>
            <a:ext cx="82296" cy="2071116"/>
          </a:xfrm>
          <a:prstGeom prst="rect">
            <a:avLst/>
          </a:prstGeom>
          <a:solidFill>
            <a:srgbClr val="CF8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5858" y="1993392"/>
            <a:ext cx="3271418" cy="40513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20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Claude</a:t>
            </a: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 Opus 5.5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5858" y="2398522"/>
            <a:ext cx="3271418" cy="6858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강점 · 긴 문서·코딩, 무료로 PPT 파일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5858" y="3084322"/>
            <a:ext cx="3271418" cy="84302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A0520C"/>
                </a:solidFill>
                <a:latin typeface="Malgun Gothic"/>
                <a:ea typeface="Malgun Gothic"/>
                <a:cs typeface="Malgun Gothic"/>
              </a:rPr>
              <a:t>한계 · 무료는 Opus 불가, 사진 생성 안 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7316" y="1901952"/>
            <a:ext cx="3545738" cy="20711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97316" y="1901952"/>
            <a:ext cx="82296" cy="2071116"/>
          </a:xfrm>
          <a:prstGeom prst="rect">
            <a:avLst/>
          </a:prstGeom>
          <a:solidFill>
            <a:srgbClr val="6E9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0196" y="1993392"/>
            <a:ext cx="3271418" cy="40513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20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Gemini</a:t>
            </a: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 Gemini 4 Argon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0196" y="2398522"/>
            <a:ext cx="3271418" cy="6858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강점 · 구글 서비스 연결, 긴 영상 분석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0196" y="3084322"/>
            <a:ext cx="3271418" cy="84302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A0520C"/>
                </a:solidFill>
                <a:latin typeface="Malgun Gothic"/>
                <a:ea typeface="Malgun Gothic"/>
                <a:cs typeface="Malgun Gothic"/>
              </a:rPr>
              <a:t>한계 · 무료 경량화, Argon은 Pro 이상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201668"/>
            <a:ext cx="3545738" cy="20711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201668"/>
            <a:ext cx="82296" cy="2071116"/>
          </a:xfrm>
          <a:prstGeom prst="rect">
            <a:avLst/>
          </a:prstGeom>
          <a:solidFill>
            <a:srgbClr val="A9B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293108"/>
            <a:ext cx="3271418" cy="7188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20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Microsoft Copilot</a:t>
            </a: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 자동 선택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011928"/>
            <a:ext cx="3271418" cy="6858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강점 · Word·Excel·PPT 안에서 작업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697728"/>
            <a:ext cx="3271418" cy="52933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A0520C"/>
                </a:solidFill>
                <a:latin typeface="Malgun Gothic"/>
                <a:ea typeface="Malgun Gothic"/>
                <a:cs typeface="Malgun Gothic"/>
              </a:rPr>
              <a:t>한계 · 에이전트는 사용량 과금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22978" y="4201668"/>
            <a:ext cx="3545738" cy="20711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22978" y="4201668"/>
            <a:ext cx="82296" cy="2071116"/>
          </a:xfrm>
          <a:prstGeom prst="rect">
            <a:avLst/>
          </a:prstGeom>
          <a:solidFill>
            <a:srgbClr val="A8A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05858" y="4293108"/>
            <a:ext cx="3271418" cy="40513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20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Grok</a:t>
            </a: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 Grok 4.7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05858" y="4698238"/>
            <a:ext cx="3271418" cy="6858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강점 · 낮은 API 단가, Cursor 묶음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05858" y="5384038"/>
            <a:ext cx="3271418" cy="84302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A0520C"/>
                </a:solidFill>
                <a:latin typeface="Malgun Gothic"/>
                <a:ea typeface="Malgun Gothic"/>
                <a:cs typeface="Malgun Gothic"/>
              </a:rPr>
              <a:t>한계 · 앱 기능 공식 확인 실패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97316" y="4201668"/>
            <a:ext cx="3545738" cy="20711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97316" y="4201668"/>
            <a:ext cx="82296" cy="2071116"/>
          </a:xfrm>
          <a:prstGeom prst="rect">
            <a:avLst/>
          </a:prstGeom>
          <a:solidFill>
            <a:srgbClr val="8899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80196" y="4293108"/>
            <a:ext cx="3271418" cy="40513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20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Perplexity</a:t>
            </a: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 Sonar 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80196" y="4698238"/>
            <a:ext cx="3271418" cy="6858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강점 · 출처가 붙는 검색형 답변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80196" y="5384038"/>
            <a:ext cx="3271418" cy="84302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A0520C"/>
                </a:solidFill>
                <a:latin typeface="Malgun Gothic"/>
                <a:ea typeface="Malgun Gothic"/>
                <a:cs typeface="Malgun Gothic"/>
              </a:rPr>
              <a:t>한계 · 요금 공식 확인 실패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55448"/>
            <a:ext cx="100584" cy="100584"/>
          </a:xfrm>
          <a:prstGeom prst="rect">
            <a:avLst/>
          </a:prstGeom>
          <a:solidFill>
            <a:srgbClr val="17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"/>
            <a:ext cx="82296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560"/>
              </a:lnSpc>
            </a:pPr>
            <a:r>
              <a:rPr sz="12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트렌드 브리핑 · 2026년 10월 2주차 · 2026-10-14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57055" y="45720"/>
            <a:ext cx="22860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560"/>
              </a:lnSpc>
            </a:pPr>
            <a:r>
              <a:rPr sz="12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Unfade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"/>
            <a:ext cx="11094415" cy="12801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080"/>
              </a:lnSpc>
            </a:pPr>
            <a:r>
              <a:rPr sz="1600" b="1" lang="ko-KR" altLang="en-US">
                <a:solidFill>
                  <a:srgbClr val="17334B"/>
                </a:solidFill>
                <a:latin typeface="Malgun Gothic"/>
                <a:ea typeface="Malgun Gothic"/>
                <a:cs typeface="Malgun Gothic"/>
              </a:rPr>
              <a:t>03 서비스 비교 · 이미지·영상·음성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11094415" cy="9326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379"/>
              </a:lnSpc>
            </a:pPr>
            <a:r>
              <a:rPr sz="2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이미지·영상·음성 AI는 '소리까지 함께' 만드는 쪽으로 가고, Sora는 완전히 종료됐다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7336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96926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430"/>
              </a:lnSpc>
            </a:pPr>
            <a:r>
              <a:rPr sz="11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출처: OpenAI, Arena, Google, Midjourney 외 10곳 · 전체 출처는 마지막 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00800"/>
            <a:ext cx="14630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430"/>
              </a:lnSpc>
            </a:pP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7 / 29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01952"/>
            <a:ext cx="3515258" cy="4572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340864"/>
            <a:ext cx="3515258" cy="18288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901952"/>
            <a:ext cx="3515258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noAutofit/>
          </a:bodyPr>
          <a:lstStyle/>
          <a:p>
            <a:pPr algn="ctr" eaLnBrk="0">
              <a:lnSpc>
                <a:spcPts val="2600"/>
              </a:lnSpc>
            </a:pPr>
            <a:r>
              <a:rPr sz="20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이미지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468880"/>
            <a:ext cx="3515258" cy="6858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ChatGPT Images 2.5 · Images 2.5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099816"/>
            <a:ext cx="3515258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Arena 이미지 1위권, 편집 강점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653028"/>
            <a:ext cx="3515258" cy="6858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Nano Banana 2.1 · Nano Banana 2.1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283964"/>
            <a:ext cx="3515258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4K·장당 $0.03대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37176"/>
            <a:ext cx="3515258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Midjourney · V8.2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170932"/>
            <a:ext cx="3515258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일러스트 강점, 요금 미확인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38218" y="1901952"/>
            <a:ext cx="3515258" cy="4572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38218" y="2340864"/>
            <a:ext cx="3515258" cy="18288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38218" y="1901952"/>
            <a:ext cx="3515258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noAutofit/>
          </a:bodyPr>
          <a:lstStyle/>
          <a:p>
            <a:pPr algn="ctr" eaLnBrk="0">
              <a:lnSpc>
                <a:spcPts val="2600"/>
              </a:lnSpc>
            </a:pPr>
            <a:r>
              <a:rPr sz="20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영상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38218" y="2468880"/>
            <a:ext cx="3515258" cy="6858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Gemini Omni · Veo 3.1 · Omni 1.1 Flash · Veo 3.1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38218" y="3099816"/>
            <a:ext cx="3515258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소리 동반, Arena 영상 1위권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38218" y="3653028"/>
            <a:ext cx="3515258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Kling 4.0 · Kling 4.0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38218" y="3986784"/>
            <a:ext cx="3515258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30초·소리, 조기 접근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38218" y="4539996"/>
            <a:ext cx="3515258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Runway · Gen-4.5 + 타사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38218" y="4873752"/>
            <a:ext cx="3515258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모음형, 학습 이용 조항 주의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8218" y="5426964"/>
            <a:ext cx="3515258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Luma · Pika · Ray3.2 · Pika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38218" y="5760720"/>
            <a:ext cx="3515258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상업 이용은 상위 요금제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27796" y="1901952"/>
            <a:ext cx="3515258" cy="4572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27796" y="2340864"/>
            <a:ext cx="3515258" cy="18288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27796" y="1901952"/>
            <a:ext cx="3515258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noAutofit/>
          </a:bodyPr>
          <a:lstStyle/>
          <a:p>
            <a:pPr algn="ctr" eaLnBrk="0">
              <a:lnSpc>
                <a:spcPts val="2600"/>
              </a:lnSpc>
            </a:pPr>
            <a:r>
              <a:rPr sz="20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음성·음악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27796" y="2468880"/>
            <a:ext cx="3515258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Suno · v6 · Speech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27796" y="2802636"/>
            <a:ext cx="3515258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소송 중, 무료는 비상업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27796" y="3355848"/>
            <a:ext cx="3515258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ElevenLabs · Eleven v4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27796" y="3689604"/>
            <a:ext cx="3515258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90개+ 언어, 상업은 $6부터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27796" y="4242816"/>
            <a:ext cx="3515258" cy="6858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Gemini 3.8 TTS · Lyria 3.5 · 3.8 TTS · Lyria 3.5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27796" y="4873752"/>
            <a:ext cx="3515258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복제는 동의 녹음 필수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27796" y="5426964"/>
            <a:ext cx="3515258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Udio · 전환 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27796" y="5760720"/>
            <a:ext cx="3515258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다운로드 중단(관찰)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55448"/>
            <a:ext cx="100584" cy="100584"/>
          </a:xfrm>
          <a:prstGeom prst="rect">
            <a:avLst/>
          </a:prstGeom>
          <a:solidFill>
            <a:srgbClr val="17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"/>
            <a:ext cx="82296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560"/>
              </a:lnSpc>
            </a:pPr>
            <a:r>
              <a:rPr sz="12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트렌드 브리핑 · 2026년 10월 2주차 · 2026-10-14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57055" y="45720"/>
            <a:ext cx="22860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560"/>
              </a:lnSpc>
            </a:pPr>
            <a:r>
              <a:rPr sz="12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Unfade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"/>
            <a:ext cx="11094415" cy="12801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080"/>
              </a:lnSpc>
            </a:pPr>
            <a:r>
              <a:rPr sz="1600" b="1" lang="ko-KR" altLang="en-US">
                <a:solidFill>
                  <a:srgbClr val="17334B"/>
                </a:solidFill>
                <a:latin typeface="Malgun Gothic"/>
                <a:ea typeface="Malgun Gothic"/>
                <a:cs typeface="Malgun Gothic"/>
              </a:rPr>
              <a:t>04 가능해진 일 · 8개 영역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11094415" cy="9326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379"/>
              </a:lnSpc>
            </a:pPr>
            <a:r>
              <a:rPr sz="2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8개 영역 모두 '입력 → AI 작업 → 사람 확인 → 결과물' 흐름이며, 확인 단계는 빠지지 않는다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7336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96926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430"/>
              </a:lnSpc>
            </a:pPr>
            <a:r>
              <a:rPr sz="11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출처: 이번 호 조사 기록 · 각 사 공식 도움말 기준 · 전체 출처는 마지막 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00800"/>
            <a:ext cx="14630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430"/>
              </a:lnSpc>
            </a:pP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8 / 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901952"/>
            <a:ext cx="2622727" cy="2084832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993392"/>
            <a:ext cx="2403271" cy="4114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600"/>
              </a:lnSpc>
            </a:pPr>
            <a:r>
              <a:rPr sz="20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문서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404872"/>
            <a:ext cx="2403271" cy="14904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초안은 몇 분, 사실 확인은 사람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72535" y="1901952"/>
            <a:ext cx="2622727" cy="2084832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82263" y="1993392"/>
            <a:ext cx="2403271" cy="4114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600"/>
              </a:lnSpc>
            </a:pPr>
            <a:r>
              <a:rPr sz="20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데이터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2263" y="2404872"/>
            <a:ext cx="2403271" cy="14904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코드로 분석하고 차트까지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6431" y="1901952"/>
            <a:ext cx="2622727" cy="2084832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6159" y="1993392"/>
            <a:ext cx="2403271" cy="4114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600"/>
              </a:lnSpc>
            </a:pPr>
            <a:r>
              <a:rPr sz="20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코딩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6159" y="2404872"/>
            <a:ext cx="2403271" cy="14904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여러 단계 처리, 권한·검토는 사람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20327" y="1901952"/>
            <a:ext cx="2622727" cy="2084832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30055" y="1993392"/>
            <a:ext cx="2403271" cy="4114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600"/>
              </a:lnSpc>
            </a:pPr>
            <a:r>
              <a:rPr sz="20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이미지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0055" y="2404872"/>
            <a:ext cx="2403271" cy="14904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시안은 바로, 글자·권리는 확인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187952"/>
            <a:ext cx="2622727" cy="2084832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279392"/>
            <a:ext cx="2403271" cy="4114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600"/>
              </a:lnSpc>
            </a:pPr>
            <a:r>
              <a:rPr sz="20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영상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690872"/>
            <a:ext cx="2403271" cy="14904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10~30초 영상은 가능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72535" y="4187952"/>
            <a:ext cx="2622727" cy="2084832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82263" y="4279392"/>
            <a:ext cx="2403271" cy="4114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600"/>
              </a:lnSpc>
            </a:pPr>
            <a:r>
              <a:rPr sz="20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음성·음악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82263" y="4690872"/>
            <a:ext cx="2403271" cy="14904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가능하지만 권리 확인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6431" y="4187952"/>
            <a:ext cx="2622727" cy="2084832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6159" y="4279392"/>
            <a:ext cx="2403271" cy="4114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600"/>
              </a:lnSpc>
            </a:pPr>
            <a:r>
              <a:rPr sz="20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전문 파일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6159" y="4690872"/>
            <a:ext cx="2403271" cy="14904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PDF 설명은 가능, 원본은 변환 필요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20327" y="4187952"/>
            <a:ext cx="2622727" cy="2084832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30055" y="4279392"/>
            <a:ext cx="2403271" cy="4114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600"/>
              </a:lnSpc>
            </a:pPr>
            <a:r>
              <a:rPr sz="20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자동화(에이전트)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30055" y="4690872"/>
            <a:ext cx="2403271" cy="14904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맡길 수 있지만 권한·승인이 핵심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55448"/>
            <a:ext cx="100584" cy="100584"/>
          </a:xfrm>
          <a:prstGeom prst="rect">
            <a:avLst/>
          </a:prstGeom>
          <a:solidFill>
            <a:srgbClr val="17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"/>
            <a:ext cx="82296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560"/>
              </a:lnSpc>
            </a:pPr>
            <a:r>
              <a:rPr sz="12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트렌드 브리핑 · 2026년 10월 2주차 · 2026-10-14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57055" y="45720"/>
            <a:ext cx="22860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560"/>
              </a:lnSpc>
            </a:pPr>
            <a:r>
              <a:rPr sz="12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Unfade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"/>
            <a:ext cx="11094415" cy="12801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080"/>
              </a:lnSpc>
            </a:pPr>
            <a:r>
              <a:rPr sz="1600" b="1" lang="ko-KR" altLang="en-US">
                <a:solidFill>
                  <a:srgbClr val="17334B"/>
                </a:solidFill>
                <a:latin typeface="Malgun Gothic"/>
                <a:ea typeface="Malgun Gothic"/>
                <a:cs typeface="Malgun Gothic"/>
              </a:rPr>
              <a:t>04 가능해진 일 · 서비스별 가능 수준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11094415" cy="9326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379"/>
              </a:lnSpc>
            </a:pPr>
            <a:r>
              <a:rPr sz="2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문서·코딩은 대부분 가능하고, 영상·음악·CAD는 서비스마다 크게 다르다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7336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96926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430"/>
              </a:lnSpc>
            </a:pPr>
            <a:r>
              <a:rPr sz="11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출처: 이번 호 조사 기록 · ● 가능 ◐ 제한적 ○ 불가 ? 미확인 · 공식 문서 기준 · 전체 출처는 마지막 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00800"/>
            <a:ext cx="14630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430"/>
              </a:lnSpc>
            </a:pP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9 / 29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901952"/>
          <a:ext cx="11094414" cy="43251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300429"/>
                <a:gridCol w="1300429"/>
                <a:gridCol w="1300429"/>
                <a:gridCol w="1300429"/>
                <a:gridCol w="1300429"/>
                <a:gridCol w="1300429"/>
              </a:tblGrid>
              <a:tr h="393191"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시나리오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ChatGPT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Claude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Gemini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Copilot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Grok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Perplexity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</a:tcPr>
                </a:tc>
              </a:tr>
              <a:tr h="393191"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요약·번역·보고서…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A52A7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? 미확인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3191"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PPT 파일 제작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7A5E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◐ 제한적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A52A7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? 미확인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7A5E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◐ 제한적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</a:tr>
              <a:tr h="393191"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엑셀·CSV 분석·차트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A52A7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? 미확인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7A5E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◐ 제한적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3191"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코드 작성·오류 수정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7A5E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◐ 제한적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7A5E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◐ 제한적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</a:tr>
              <a:tr h="393191"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이미지 생성·편집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7A5E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◐ 제한적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3191"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음악·내레이션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A52A7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? 미확인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A52A7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? 미확인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7A5E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◐ 제한적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7A5E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◐ 제한적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A52A7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? 미확인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</a:tr>
              <a:tr h="393191"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영상 생성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A52A7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? 미확인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A52A7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? 미확인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7A5E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◐ 제한적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7A5E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◐ 제한적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3191"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PDF·긴 문서 이해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A52A7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? 미확인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</a:tr>
              <a:tr h="393191"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CAD·BIM…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A52A7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? 미확인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A52A7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? 미확인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A52A7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? 미확인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A52A7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? 미확인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A52A7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? 미확인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A52A7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? 미확인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3191"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자동화(에이전트)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7A5E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◐ 제한적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7A5E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◐ 제한적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7A5E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◐ 제한적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55448"/>
            <a:ext cx="100584" cy="100584"/>
          </a:xfrm>
          <a:prstGeom prst="rect">
            <a:avLst/>
          </a:prstGeom>
          <a:solidFill>
            <a:srgbClr val="17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"/>
            <a:ext cx="82296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560"/>
              </a:lnSpc>
            </a:pPr>
            <a:r>
              <a:rPr sz="12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트렌드 브리핑 · 2026년 10월 2주차 · 2026-10-14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57055" y="45720"/>
            <a:ext cx="22860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560"/>
              </a:lnSpc>
            </a:pPr>
            <a:r>
              <a:rPr sz="12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Unfade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"/>
            <a:ext cx="11094415" cy="12801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080"/>
              </a:lnSpc>
            </a:pPr>
            <a:r>
              <a:rPr sz="1600" b="1" lang="ko-KR" altLang="en-US">
                <a:solidFill>
                  <a:srgbClr val="5B4BD6"/>
                </a:solidFill>
                <a:latin typeface="Malgun Gothic"/>
                <a:ea typeface="Malgun Gothic"/>
                <a:cs typeface="Malgun Gothic"/>
              </a:rPr>
              <a:t>05 토목설계 AI 특집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11094415" cy="9326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379"/>
              </a:lnSpc>
            </a:pPr>
            <a:r>
              <a:rPr sz="2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토목 AI는 도면 검토·교량 점검 보조가 실증에 들어섰고, 설계 판단과 책임은 엔지니어에게 남는다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7336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96926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430"/>
              </a:lnSpc>
            </a:pPr>
            <a:r>
              <a:rPr sz="11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출처: Autodesk, Autodesk(일본 법인), engineering.com, iTWire 외 22곳 · 전체 출처는 마지막 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00800"/>
            <a:ext cx="14630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430"/>
              </a:lnSpc>
            </a:pP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10 / 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901952"/>
            <a:ext cx="7132320" cy="1257300"/>
          </a:xfrm>
          <a:prstGeom prst="roundRect">
            <a:avLst>
              <a:gd name="adj" fmla="val 6000"/>
            </a:avLst>
          </a:prstGeom>
          <a:solidFill>
            <a:srgbClr val="EFE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039112"/>
            <a:ext cx="6949440" cy="9829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오토데스크는 도면 기준 검토 AI(2027년 초)를 예고했고, 국내에서는 건설연이 교량 안전성을 약 10분 만에 평가하는 AI를, 서울시가 한강교량 드론·AI 무인점검을 실증하고 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901952"/>
            <a:ext cx="1752447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65007" y="1938528"/>
            <a:ext cx="1532991" cy="5029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379"/>
              </a:lnSpc>
            </a:pPr>
            <a:r>
              <a:rPr sz="2600" b="1" lang="ko-KR" altLang="en-US">
                <a:solidFill>
                  <a:srgbClr val="5B4BD6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5007" y="2414016"/>
            <a:ext cx="1532991" cy="3840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토목 사례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90607" y="1901952"/>
            <a:ext cx="1752447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00335" y="1938528"/>
            <a:ext cx="1532991" cy="5029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379"/>
              </a:lnSpc>
            </a:pPr>
            <a:r>
              <a:rPr sz="2600" b="1" lang="ko-KR" altLang="en-US">
                <a:solidFill>
                  <a:srgbClr val="5B4BD6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0335" y="2414016"/>
            <a:ext cx="1532991" cy="3840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실무 적용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2926080"/>
            <a:ext cx="1752447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65007" y="2962656"/>
            <a:ext cx="1532991" cy="5029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379"/>
              </a:lnSpc>
            </a:pPr>
            <a:r>
              <a:rPr sz="2600" b="1" lang="ko-KR" altLang="en-US">
                <a:solidFill>
                  <a:srgbClr val="5B4BD6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5007" y="3438144"/>
            <a:ext cx="1532991" cy="3840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시험·시범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90607" y="2926080"/>
            <a:ext cx="1752447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00335" y="2962656"/>
            <a:ext cx="1532991" cy="5029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379"/>
              </a:lnSpc>
            </a:pPr>
            <a:r>
              <a:rPr sz="2600" b="1" lang="ko-KR" altLang="en-US">
                <a:solidFill>
                  <a:srgbClr val="5B4BD6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00335" y="3438144"/>
            <a:ext cx="1532991" cy="3840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검증 부족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224528"/>
            <a:ext cx="2567863" cy="2048256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297680"/>
            <a:ext cx="2384983" cy="4114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① 파일 입력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700016"/>
            <a:ext cx="2384983" cy="149961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도면 PDF·이미지, DXF(텍스트), DWG·IFC 원본(변환 필요)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98215" y="5020056"/>
            <a:ext cx="310896" cy="4572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ctr" eaLnBrk="0">
              <a:lnSpc>
                <a:spcPts val="3120"/>
              </a:lnSpc>
            </a:pPr>
            <a:r>
              <a:rPr sz="2400" b="1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90823" y="4224528"/>
            <a:ext cx="2567863" cy="2048256"/>
          </a:xfrm>
          <a:prstGeom prst="roundRect">
            <a:avLst>
              <a:gd name="adj" fmla="val 8000"/>
            </a:avLst>
          </a:prstGeom>
          <a:solidFill>
            <a:srgbClr val="EFE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82263" y="4297680"/>
            <a:ext cx="2384983" cy="4114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5B4BD6"/>
                </a:solidFill>
                <a:latin typeface="Malgun Gothic"/>
                <a:ea typeface="Malgun Gothic"/>
                <a:cs typeface="Malgun Gothic"/>
              </a:rPr>
              <a:t>② AI 처리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82263" y="4700016"/>
            <a:ext cx="2384983" cy="149961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내용 설명·주석 목록화·개정판 차이 표시, 코드로 DXF·IFC 읽기 초안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0399" y="5020056"/>
            <a:ext cx="310896" cy="4572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ctr" eaLnBrk="0">
              <a:lnSpc>
                <a:spcPts val="3120"/>
              </a:lnSpc>
            </a:pPr>
            <a:r>
              <a:rPr sz="2400" b="1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3007" y="4224528"/>
            <a:ext cx="2567863" cy="2048256"/>
          </a:xfrm>
          <a:prstGeom prst="roundRect">
            <a:avLst>
              <a:gd name="adj" fmla="val 8000"/>
            </a:avLst>
          </a:prstGeom>
          <a:solidFill>
            <a:srgbClr val="FB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24447" y="4297680"/>
            <a:ext cx="2384983" cy="4114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A0520C"/>
                </a:solidFill>
                <a:latin typeface="Malgun Gothic"/>
                <a:ea typeface="Malgun Gothic"/>
                <a:cs typeface="Malgun Gothic"/>
              </a:rPr>
              <a:t>③ 설계자 검토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4447" y="4700016"/>
            <a:ext cx="2384983" cy="149961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치수·좌표·기준 대조, 누락·오인식 확인, 적용 여부 판단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82583" y="5020056"/>
            <a:ext cx="310896" cy="4572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ctr" eaLnBrk="0">
              <a:lnSpc>
                <a:spcPts val="3120"/>
              </a:lnSpc>
            </a:pPr>
            <a:r>
              <a:rPr sz="2400" b="1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75191" y="4224528"/>
            <a:ext cx="2567863" cy="2048256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66631" y="4297680"/>
            <a:ext cx="2384983" cy="4114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④ 산출물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66631" y="4700016"/>
            <a:ext cx="2384983" cy="149961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검토 메모·질의 목록(날인 도면은 엔지니어 작성)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55448"/>
            <a:ext cx="100584" cy="100584"/>
          </a:xfrm>
          <a:prstGeom prst="rect">
            <a:avLst/>
          </a:prstGeom>
          <a:solidFill>
            <a:srgbClr val="17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"/>
            <a:ext cx="82296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560"/>
              </a:lnSpc>
            </a:pPr>
            <a:r>
              <a:rPr sz="12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트렌드 브리핑 · 2026년 10월 2주차 · 2026-10-14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57055" y="45720"/>
            <a:ext cx="22860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560"/>
              </a:lnSpc>
            </a:pPr>
            <a:r>
              <a:rPr sz="12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Unfade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"/>
            <a:ext cx="11094415" cy="12801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080"/>
              </a:lnSpc>
            </a:pPr>
            <a:r>
              <a:rPr sz="1600" b="1" lang="ko-KR" altLang="en-US">
                <a:solidFill>
                  <a:srgbClr val="5B4BD6"/>
                </a:solidFill>
                <a:latin typeface="Malgun Gothic"/>
                <a:ea typeface="Malgun Gothic"/>
                <a:cs typeface="Malgun Gothic"/>
              </a:rPr>
              <a:t>05 토목설계 AI 특집 · CAD·BIM 6단계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11094415" cy="9326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379"/>
              </a:lnSpc>
            </a:pPr>
            <a:r>
              <a:rPr sz="2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일반 AI 서비스의 CAD·BIM 6단계 판정 — 공식 문서 기준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7336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96926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430"/>
              </a:lnSpc>
            </a:pPr>
            <a:r>
              <a:rPr sz="11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출처: 이번 호 조사 기록 · 근거: 각 사 파일 업로드·생성 도움말, OpenAI 파일 입력·코드 인터프리터 문서, Gemini API 코드 실행 문서, Bentley MCP…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00800"/>
            <a:ext cx="14630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430"/>
              </a:lnSpc>
            </a:pP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11 / 29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901952"/>
          <a:ext cx="11094412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4572000"/>
                <a:gridCol w="1447723"/>
                <a:gridCol w="1447723"/>
                <a:gridCol w="1447723"/>
                <a:gridCol w="1447723"/>
              </a:tblGrid>
              <a:tr h="566928"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5B4BD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73152" marR="73152" marT="27432" marB="27432" anchor="ctr">
                    <a:solidFill>
                      <a:srgbClr val="EFED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5B4BD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내용</a:t>
                      </a:r>
                    </a:p>
                  </a:txBody>
                  <a:tcPr marL="73152" marR="73152" marT="27432" marB="27432" anchor="ctr">
                    <a:solidFill>
                      <a:srgbClr val="EFED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5B4BD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ChatGPT</a:t>
                      </a:r>
                    </a:p>
                  </a:txBody>
                  <a:tcPr marL="73152" marR="73152" marT="27432" marB="27432" anchor="ctr">
                    <a:solidFill>
                      <a:srgbClr val="EFED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5B4BD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Claude</a:t>
                      </a:r>
                    </a:p>
                  </a:txBody>
                  <a:tcPr marL="73152" marR="73152" marT="27432" marB="27432" anchor="ctr">
                    <a:solidFill>
                      <a:srgbClr val="EFED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5B4BD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Gemini</a:t>
                      </a:r>
                    </a:p>
                  </a:txBody>
                  <a:tcPr marL="73152" marR="73152" marT="27432" marB="27432" anchor="ctr">
                    <a:solidFill>
                      <a:srgbClr val="EFED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5B4BD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Copilot</a:t>
                      </a:r>
                    </a:p>
                  </a:txBody>
                  <a:tcPr marL="73152" marR="73152" marT="27432" marB="27432" anchor="ctr">
                    <a:solidFill>
                      <a:srgbClr val="EFED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600"/>
                        </a:lnSpc>
                      </a:pPr>
                      <a:r>
                        <a:rPr sz="2000" b="1" lang="ko-KR" altLang="en-US">
                          <a:solidFill>
                            <a:srgbClr val="5B4BD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도면 이미지·PDF 설명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0A736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가능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A52A7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? 미확인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600"/>
                        </a:lnSpc>
                      </a:pPr>
                      <a:r>
                        <a:rPr sz="2000" b="1" lang="ko-KR" altLang="en-US">
                          <a:solidFill>
                            <a:srgbClr val="5B4BD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DXF 직접 읽기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A52A7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? 미확인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A52A7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? 미확인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A52A7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? 미확인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A52A7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? 미확인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600"/>
                        </a:lnSpc>
                      </a:pPr>
                      <a:r>
                        <a:rPr sz="2000" b="1" lang="ko-KR" altLang="en-US">
                          <a:solidFill>
                            <a:srgbClr val="5B4BD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DWG·IFC 원본 판독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A52A7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? 미확인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4F5D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 불가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A52A7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? 미확인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A52A7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? 미확인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600"/>
                        </a:lnSpc>
                      </a:pPr>
                      <a:r>
                        <a:rPr sz="2000" b="1" lang="ko-KR" altLang="en-US">
                          <a:solidFill>
                            <a:srgbClr val="5B4BD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코드 실행으로 생성·변환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A52A7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? 미확인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7A5E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◐ 제한적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A52A7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? 미확인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A52A7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? 미확인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600"/>
                        </a:lnSpc>
                      </a:pPr>
                      <a:r>
                        <a:rPr sz="2000" b="1" lang="ko-KR" altLang="en-US">
                          <a:solidFill>
                            <a:srgbClr val="5B4BD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설계 프로그램 연동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7A5E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◐ 제한적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7A5E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◐ 제한적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7A5E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◐ 제한적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7A5E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◐ 제한적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600"/>
                        </a:lnSpc>
                      </a:pPr>
                      <a:r>
                        <a:rPr sz="2000" b="1" lang="ko-KR" altLang="en-US">
                          <a:solidFill>
                            <a:srgbClr val="5B4BD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 없이 그대로 사용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4F5D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 불가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4F5D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 불가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4F5D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 불가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4F5D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 불가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55448"/>
            <a:ext cx="100584" cy="100584"/>
          </a:xfrm>
          <a:prstGeom prst="rect">
            <a:avLst/>
          </a:prstGeom>
          <a:solidFill>
            <a:srgbClr val="17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"/>
            <a:ext cx="82296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560"/>
              </a:lnSpc>
            </a:pPr>
            <a:r>
              <a:rPr sz="12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트렌드 브리핑 · 2026년 10월 2주차 · 2026-10-14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57055" y="45720"/>
            <a:ext cx="22860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560"/>
              </a:lnSpc>
            </a:pPr>
            <a:r>
              <a:rPr sz="12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Unfade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"/>
            <a:ext cx="11094415" cy="12801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080"/>
              </a:lnSpc>
            </a:pPr>
            <a:r>
              <a:rPr sz="1600" b="1" lang="ko-KR" altLang="en-US">
                <a:solidFill>
                  <a:srgbClr val="5B4BD6"/>
                </a:solidFill>
                <a:latin typeface="Malgun Gothic"/>
                <a:ea typeface="Malgun Gothic"/>
                <a:cs typeface="Malgun Gothic"/>
              </a:rPr>
              <a:t>05 토목설계 AI 특집 · 주요 사례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11094415" cy="9326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379"/>
              </a:lnSpc>
            </a:pPr>
            <a:r>
              <a:rPr sz="2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행사 시즌 발표는 대부분 프리뷰·예고 단계였고, 각국 정부는 데이터·로봇 정책을 꺼냈다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7336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96926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430"/>
              </a:lnSpc>
            </a:pPr>
            <a:r>
              <a:rPr sz="11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출처: Autodesk, Autodesk(일본 법인), engineering.com, iTWire 외 3곳 · 전체 출처는 마지막 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00800"/>
            <a:ext cx="14630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430"/>
              </a:lnSpc>
            </a:pP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12 / 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901952"/>
            <a:ext cx="5432907" cy="20711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2011680"/>
            <a:ext cx="1305306" cy="406908"/>
          </a:xfrm>
          <a:prstGeom prst="roundRect">
            <a:avLst>
              <a:gd name="adj" fmla="val 50000"/>
            </a:avLst>
          </a:prstGeom>
          <a:solidFill>
            <a:srgbClr val="F5EDE6"/>
          </a:solidFill>
          <a:ln w="12700">
            <a:solidFill>
              <a:srgbClr val="A052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A0520C"/>
                </a:solidFill>
                <a:latin typeface="Malgun Gothic"/>
                <a:ea typeface="Malgun Gothic"/>
                <a:cs typeface="Malgun Gothic"/>
              </a:rPr>
              <a:t>검증 부족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0834" y="1993392"/>
            <a:ext cx="3716121" cy="4114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미국 · Autodesk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468880"/>
            <a:ext cx="5158587" cy="7518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600"/>
              </a:lnSpc>
            </a:pPr>
            <a:r>
              <a:rPr sz="20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오토데스크, 여러 제품을 넘나드는 '에이전트형' Autodesk…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220720"/>
            <a:ext cx="5158587" cy="6791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효과 · 효과 수치 미공개(자사 설문만 제시)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1901952"/>
            <a:ext cx="5432907" cy="20711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47307" y="2011680"/>
            <a:ext cx="1305306" cy="406908"/>
          </a:xfrm>
          <a:prstGeom prst="roundRect">
            <a:avLst>
              <a:gd name="adj" fmla="val 50000"/>
            </a:avLst>
          </a:prstGeom>
          <a:solidFill>
            <a:srgbClr val="F5EDE6"/>
          </a:solidFill>
          <a:ln w="12700">
            <a:solidFill>
              <a:srgbClr val="A052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A0520C"/>
                </a:solidFill>
                <a:latin typeface="Malgun Gothic"/>
                <a:ea typeface="Malgun Gothic"/>
                <a:cs typeface="Malgun Gothic"/>
              </a:rPr>
              <a:t>검증 부족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62341" y="1993392"/>
            <a:ext cx="3716121" cy="4114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미국 · Autodesk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7307" y="2468880"/>
            <a:ext cx="5158587" cy="7518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600"/>
              </a:lnSpc>
            </a:pPr>
            <a:r>
              <a:rPr sz="20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도면 개정판 비교·기준 대조 AI 예고 — 오토데스크도 '전문가 검토 유지'를…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7307" y="3220720"/>
            <a:ext cx="5158587" cy="6791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효과 · 정확도 수치 미공개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201668"/>
            <a:ext cx="5432907" cy="20711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4311396"/>
            <a:ext cx="1305306" cy="406908"/>
          </a:xfrm>
          <a:prstGeom prst="roundRect">
            <a:avLst>
              <a:gd name="adj" fmla="val 50000"/>
            </a:avLst>
          </a:prstGeom>
          <a:solidFill>
            <a:srgbClr val="F5EDE6"/>
          </a:solidFill>
          <a:ln w="12700">
            <a:solidFill>
              <a:srgbClr val="A052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A0520C"/>
                </a:solidFill>
                <a:latin typeface="Malgun Gothic"/>
                <a:ea typeface="Malgun Gothic"/>
                <a:cs typeface="Malgun Gothic"/>
              </a:rPr>
              <a:t>검증 부족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0834" y="4293108"/>
            <a:ext cx="3716121" cy="4114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미국 · Autodesk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768596"/>
            <a:ext cx="5158587" cy="7518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600"/>
              </a:lnSpc>
            </a:pPr>
            <a:r>
              <a:rPr sz="20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Civil 3D가 오토데스크 클라우드(Forma)에 연결 예고 — 초기 도로…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520436"/>
            <a:ext cx="5158587" cy="6791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효과 · 시기 미정 — 좌표계 통일, Esri·Fugro 데이터 연동 강화 예고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0147" y="4201668"/>
            <a:ext cx="5432907" cy="20711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47307" y="4311396"/>
            <a:ext cx="1284986" cy="406908"/>
          </a:xfrm>
          <a:prstGeom prst="roundRect">
            <a:avLst>
              <a:gd name="adj" fmla="val 50000"/>
            </a:avLst>
          </a:prstGeom>
          <a:solidFill>
            <a:srgbClr val="F1EEE5"/>
          </a:solidFill>
          <a:ln w="12700">
            <a:solidFill>
              <a:srgbClr val="7A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7A5E00"/>
                </a:solidFill>
                <a:latin typeface="Malgun Gothic"/>
                <a:ea typeface="Malgun Gothic"/>
                <a:cs typeface="Malgun Gothic"/>
              </a:rPr>
              <a:t>시험·시범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42021" y="4293108"/>
            <a:ext cx="3736441" cy="4114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대한민국 · 한국건설기술연구원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47307" y="4768596"/>
            <a:ext cx="5158587" cy="7518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600"/>
              </a:lnSpc>
            </a:pPr>
            <a:r>
              <a:rPr sz="20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건설연, 교량 안전성을 약 10분 만에 평가하는 AI 개발 — 전문가 평가…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47307" y="5520436"/>
            <a:ext cx="5158587" cy="6791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효과 · 평가 1~3일 → 약 10분, 상용 SW 대비 90% 이상 일치, 연 약 1,500만 원…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55448"/>
            <a:ext cx="100584" cy="100584"/>
          </a:xfrm>
          <a:prstGeom prst="rect">
            <a:avLst/>
          </a:prstGeom>
          <a:solidFill>
            <a:srgbClr val="17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"/>
            <a:ext cx="82296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560"/>
              </a:lnSpc>
            </a:pPr>
            <a:r>
              <a:rPr sz="12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트렌드 브리핑 · 2026년 10월 2주차 · 2026-10-14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57055" y="45720"/>
            <a:ext cx="22860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560"/>
              </a:lnSpc>
            </a:pPr>
            <a:r>
              <a:rPr sz="12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Unfade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"/>
            <a:ext cx="11094415" cy="12801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080"/>
              </a:lnSpc>
            </a:pPr>
            <a:r>
              <a:rPr sz="1600" b="1" lang="ko-KR" altLang="en-US">
                <a:solidFill>
                  <a:srgbClr val="17334B"/>
                </a:solidFill>
                <a:latin typeface="Malgun Gothic"/>
                <a:ea typeface="Malgun Gothic"/>
                <a:cs typeface="Malgun Gothic"/>
              </a:rPr>
              <a:t>06 글로벌 사례 · 트렌드 레이더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11094415" cy="9326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379"/>
              </a:lnSpc>
            </a:pPr>
            <a:r>
              <a:rPr sz="2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확산은 결제·표식·사람 확인 원칙, 위험은 에이전트 무단 행동과 정서 의존 챗봇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7336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96926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430"/>
              </a:lnSpc>
            </a:pPr>
            <a:r>
              <a:rPr sz="11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출처: TechCrunch, 중앙이코노미뉴스, Google, 캘리포니아 주지사실 외 11곳 · 전체 출처는 마지막 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00800"/>
            <a:ext cx="14630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430"/>
              </a:lnSpc>
            </a:pP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13 / 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901952"/>
            <a:ext cx="5432907" cy="20711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01952"/>
            <a:ext cx="5432907" cy="73152"/>
          </a:xfrm>
          <a:prstGeom prst="rect">
            <a:avLst/>
          </a:prstGeom>
          <a:solidFill>
            <a:srgbClr val="0A7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029968"/>
            <a:ext cx="5158587" cy="4114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600"/>
              </a:lnSpc>
            </a:pPr>
            <a:r>
              <a:rPr sz="20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확산 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450592"/>
            <a:ext cx="5158587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· 에이전트가 '결제'까지 한다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875788"/>
            <a:ext cx="5158587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· AI 생성물 '표식'이 기본값이 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1901952"/>
            <a:ext cx="5432907" cy="20711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901952"/>
            <a:ext cx="5432907" cy="73152"/>
          </a:xfrm>
          <a:prstGeom prst="rect">
            <a:avLst/>
          </a:prstGeom>
          <a:solidFill>
            <a:srgbClr val="1D5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7307" y="2029968"/>
            <a:ext cx="5158587" cy="4114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600"/>
              </a:lnSpc>
            </a:pPr>
            <a:r>
              <a:rPr sz="2000" b="1" lang="ko-KR" altLang="en-US">
                <a:solidFill>
                  <a:srgbClr val="1D5FB8"/>
                </a:solidFill>
                <a:latin typeface="Malgun Gothic"/>
                <a:ea typeface="Malgun Gothic"/>
                <a:cs typeface="Malgun Gothic"/>
              </a:rPr>
              <a:t>주목할 만함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7307" y="2450592"/>
            <a:ext cx="5158587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· AI 면접관과 'AI 네이티브' 채용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7307" y="2875788"/>
            <a:ext cx="5158587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· 내 기기에서 도는 개인용 AI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201668"/>
            <a:ext cx="5432907" cy="20711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201668"/>
            <a:ext cx="5432907" cy="73152"/>
          </a:xfrm>
          <a:prstGeom prst="rect">
            <a:avLst/>
          </a:prstGeom>
          <a:solidFill>
            <a:srgbClr val="A52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329684"/>
            <a:ext cx="5158587" cy="4114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600"/>
              </a:lnSpc>
            </a:pPr>
            <a:r>
              <a:rPr sz="2000" b="1" lang="ko-KR" altLang="en-US">
                <a:solidFill>
                  <a:srgbClr val="A52A78"/>
                </a:solidFill>
                <a:latin typeface="Malgun Gothic"/>
                <a:ea typeface="Malgun Gothic"/>
                <a:cs typeface="Malgun Gothic"/>
              </a:rPr>
              <a:t>논쟁 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750308"/>
            <a:ext cx="5158587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· 연방 '초지능' 프레임 대 주(州) 규제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175504"/>
            <a:ext cx="5158587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· AI 기업 가치·수익 숫자의 신뢰성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0147" y="4201668"/>
            <a:ext cx="5432907" cy="20711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0147" y="4201668"/>
            <a:ext cx="5432907" cy="73152"/>
          </a:xfrm>
          <a:prstGeom prst="rect">
            <a:avLst/>
          </a:prstGeom>
          <a:solidFill>
            <a:srgbClr val="B4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7307" y="4329684"/>
            <a:ext cx="5158587" cy="4114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600"/>
              </a:lnSpc>
            </a:pPr>
            <a:r>
              <a:rPr sz="2000" b="1" lang="ko-KR" altLang="en-US">
                <a:solidFill>
                  <a:srgbClr val="B42323"/>
                </a:solidFill>
                <a:latin typeface="Malgun Gothic"/>
                <a:ea typeface="Malgun Gothic"/>
                <a:cs typeface="Malgun Gothic"/>
              </a:rPr>
              <a:t>위험 증가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47307" y="4750308"/>
            <a:ext cx="5158587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· AI 에이전트의 무단 행동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47307" y="5175504"/>
            <a:ext cx="5158587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· 청소년·정서 의존형 챗봇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55448"/>
            <a:ext cx="100584" cy="100584"/>
          </a:xfrm>
          <a:prstGeom prst="rect">
            <a:avLst/>
          </a:prstGeom>
          <a:solidFill>
            <a:srgbClr val="17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"/>
            <a:ext cx="82296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560"/>
              </a:lnSpc>
            </a:pPr>
            <a:r>
              <a:rPr sz="12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트렌드 브리핑 · 2026년 10월 2주차 · 2026-10-14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57055" y="45720"/>
            <a:ext cx="22860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560"/>
              </a:lnSpc>
            </a:pPr>
            <a:r>
              <a:rPr sz="12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Unfade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"/>
            <a:ext cx="11094415" cy="12801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080"/>
              </a:lnSpc>
            </a:pPr>
            <a:r>
              <a:rPr sz="1600" b="1" lang="ko-KR" altLang="en-US">
                <a:solidFill>
                  <a:srgbClr val="17334B"/>
                </a:solidFill>
                <a:latin typeface="Malgun Gothic"/>
                <a:ea typeface="Malgun Gothic"/>
                <a:cs typeface="Malgun Gothic"/>
              </a:rPr>
              <a:t>06 글로벌 사례 · 기업 도입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11094415" cy="9326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379"/>
              </a:lnSpc>
            </a:pPr>
            <a:r>
              <a:rPr sz="2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기업 도입은 상담·채용·결제부터 — 효과를 수치로 공개한 사례는 아직 드물다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7336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96926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430"/>
              </a:lnSpc>
            </a:pPr>
            <a:r>
              <a:rPr sz="11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출처: TechCrunch, AI타임스, 중앙이코노미뉴스, 파이낸셜뉴스 · 전체 출처는 마지막 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00800"/>
            <a:ext cx="14630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430"/>
              </a:lnSpc>
            </a:pP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14 / 29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01952"/>
            <a:ext cx="5387187" cy="438912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322576"/>
            <a:ext cx="5387187" cy="18288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901952"/>
            <a:ext cx="5387187" cy="43891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noAutofit/>
          </a:bodyPr>
          <a:lstStyle/>
          <a:p>
            <a:pPr algn="ctr" eaLnBrk="0">
              <a:lnSpc>
                <a:spcPts val="2600"/>
              </a:lnSpc>
            </a:pPr>
            <a:r>
              <a:rPr sz="20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글로벌 기업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450592"/>
            <a:ext cx="5387187" cy="6858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HackerRank</a:t>
            </a: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 — 베타 면접 50만 건+, 부정행위 의심 표시 70~80%↓(회사 발표)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27832"/>
            <a:ext cx="5387187" cy="6858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유엔 · 구글</a:t>
            </a: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 — 26개 기구 참여, 2027년 데이터셋 80% 탑재 목표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005072"/>
            <a:ext cx="5387187" cy="6858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미국 연방항공청(FAA)</a:t>
            </a: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 — 12년 약 8억7,500만 달러(보도), 성능 수치 미공개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782312"/>
            <a:ext cx="5387187" cy="6858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Shopify · 아멕스</a:t>
            </a: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 — 효과 수치 없음(전체 상점 롤아웃)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55867" y="1901952"/>
            <a:ext cx="5387187" cy="438912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55867" y="2322576"/>
            <a:ext cx="5387187" cy="18288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55867" y="1901952"/>
            <a:ext cx="5387187" cy="43891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noAutofit/>
          </a:bodyPr>
          <a:lstStyle/>
          <a:p>
            <a:pPr algn="ctr" eaLnBrk="0">
              <a:lnSpc>
                <a:spcPts val="2600"/>
              </a:lnSpc>
            </a:pPr>
            <a:r>
              <a:rPr sz="20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국내 기업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5867" y="2450592"/>
            <a:ext cx="5387187" cy="6858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토스뱅크</a:t>
            </a: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 — 상담 시간 약 90%↓(5분+ → 약 30초), 만족도 기존 챗봇의 약…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5867" y="3227832"/>
            <a:ext cx="5387187" cy="6858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크래프톤</a:t>
            </a: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 — 신입 100명+ 선발 규모(효과 수치 없음)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55867" y="4005072"/>
            <a:ext cx="5387187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하나은행(포지큐브)</a:t>
            </a: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 — 미공개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5867" y="4485132"/>
            <a:ext cx="5387187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다음(업스테이지)</a:t>
            </a: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 — 미공개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55448"/>
            <a:ext cx="100584" cy="100584"/>
          </a:xfrm>
          <a:prstGeom prst="rect">
            <a:avLst/>
          </a:prstGeom>
          <a:solidFill>
            <a:srgbClr val="17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"/>
            <a:ext cx="82296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560"/>
              </a:lnSpc>
            </a:pPr>
            <a:r>
              <a:rPr sz="12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트렌드 브리핑 · 2026년 10월 2주차 · 2026-10-14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57055" y="45720"/>
            <a:ext cx="22860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560"/>
              </a:lnSpc>
            </a:pPr>
            <a:r>
              <a:rPr sz="12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Unfade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"/>
            <a:ext cx="11094415" cy="12801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080"/>
              </a:lnSpc>
            </a:pPr>
            <a:r>
              <a:rPr sz="1600" b="1" lang="ko-KR" altLang="en-US">
                <a:solidFill>
                  <a:srgbClr val="17334B"/>
                </a:solidFill>
                <a:latin typeface="Malgun Gothic"/>
                <a:ea typeface="Malgun Gothic"/>
                <a:cs typeface="Malgun Gothic"/>
              </a:rPr>
              <a:t>07 성능과 가격 · 성능 지표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11094415" cy="9326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379"/>
              </a:lnSpc>
            </a:pPr>
            <a:r>
              <a:rPr sz="2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평가 기관마다 1위가 다르다 — 점수는 '목적별 후보군'으로 읽어야 한다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7336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96926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430"/>
              </a:lnSpc>
            </a:pPr>
            <a:r>
              <a:rPr sz="11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출처: Artificial Analysis, Arena(공식 공개 데이터) · Artificial Analysis 종합 지수 Intelligence Index v4.3.2 측정 2026-10-14 · Arena 텍스트 Bradley-Ter…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00800"/>
            <a:ext cx="14630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430"/>
              </a:lnSpc>
            </a:pP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15 / 29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48640" y="2313432"/>
          <a:ext cx="676656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8640" y="1810512"/>
            <a:ext cx="6766560" cy="6858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Artificial Analysis 종합 지수 (Intelligence Index v4.3.2) · 막대 = 점수(0부터)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1810512"/>
            <a:ext cx="3962095" cy="6858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Arena 텍스트 상위 5 (± = 오차 범위)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2697480"/>
            <a:ext cx="128016" cy="292608"/>
          </a:xfrm>
          <a:prstGeom prst="rect">
            <a:avLst/>
          </a:prstGeom>
          <a:solidFill>
            <a:srgbClr val="6E9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0416" y="2587752"/>
            <a:ext cx="3742639" cy="51206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1. Gemini 4 Argon  1,525 ±8.8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80960" y="3246120"/>
            <a:ext cx="128016" cy="292608"/>
          </a:xfrm>
          <a:prstGeom prst="rect">
            <a:avLst/>
          </a:prstGeom>
          <a:solidFill>
            <a:srgbClr val="CF8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0416" y="3136392"/>
            <a:ext cx="3742639" cy="51206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2. Claude Opus 5.5  1,507 ±8.1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0" y="3794760"/>
            <a:ext cx="128016" cy="292608"/>
          </a:xfrm>
          <a:prstGeom prst="rect">
            <a:avLst/>
          </a:prstGeom>
          <a:solidFill>
            <a:srgbClr val="CF8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0416" y="3685032"/>
            <a:ext cx="3742639" cy="51206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3. Claude Opus 4.6  1,504 ±3.4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80960" y="4343400"/>
            <a:ext cx="128016" cy="292608"/>
          </a:xfrm>
          <a:prstGeom prst="rect">
            <a:avLst/>
          </a:prstGeom>
          <a:solidFill>
            <a:srgbClr val="CF8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0416" y="4233672"/>
            <a:ext cx="3742639" cy="51206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4. Claude Fable 5  1,504 ±4.3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80960" y="4892040"/>
            <a:ext cx="128016" cy="292608"/>
          </a:xfrm>
          <a:prstGeom prst="rect">
            <a:avLst/>
          </a:prstGeom>
          <a:solidFill>
            <a:srgbClr val="CF8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0416" y="4782312"/>
            <a:ext cx="3742639" cy="51206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5. Claude Opus 4.7  1,501 ±3.8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5422391"/>
            <a:ext cx="3962095" cy="85039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± 오차 범위가 겹치면 사실상 동률이다.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55448"/>
            <a:ext cx="100584" cy="100584"/>
          </a:xfrm>
          <a:prstGeom prst="rect">
            <a:avLst/>
          </a:prstGeom>
          <a:solidFill>
            <a:srgbClr val="17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"/>
            <a:ext cx="82296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560"/>
              </a:lnSpc>
            </a:pPr>
            <a:r>
              <a:rPr sz="12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트렌드 브리핑 · 2026년 10월 2주차 · 2026-10-14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57055" y="45720"/>
            <a:ext cx="22860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560"/>
              </a:lnSpc>
            </a:pPr>
            <a:r>
              <a:rPr sz="12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Unfade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"/>
            <a:ext cx="11094415" cy="12801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080"/>
              </a:lnSpc>
            </a:pPr>
            <a:r>
              <a:rPr sz="1600" b="1" lang="ko-KR" altLang="en-US">
                <a:solidFill>
                  <a:srgbClr val="17334B"/>
                </a:solidFill>
                <a:latin typeface="Malgun Gothic"/>
                <a:ea typeface="Malgun Gothic"/>
                <a:cs typeface="Malgun Gothic"/>
              </a:rPr>
              <a:t>07 성능과 가격 · 개인 구독료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11094415" cy="9326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379"/>
              </a:lnSpc>
            </a:pPr>
            <a:r>
              <a:rPr sz="2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개인 유료 요금은 월 20달러(약 2만6,800원) 안팎에 몰려 있고, 최상위는 월 100~500달러다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7336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96926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430"/>
              </a:lnSpc>
            </a:pPr>
            <a:r>
              <a:rPr sz="11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출처: 이번 호 조사 기록 · 환율 1달러 = 1,340.5원 (2026-10-14, 한국은행 매매기준율) · 확인 2026-10-14 · 전체 출처는 마지막 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00800"/>
            <a:ext cx="14630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430"/>
              </a:lnSpc>
            </a:pP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16 / 29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901952"/>
          <a:ext cx="1109167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931920"/>
                <a:gridCol w="2011680"/>
                <a:gridCol w="2221992"/>
              </a:tblGrid>
              <a:tr h="457200"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요금제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월 요금(정가)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원화 환산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ChatGPT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0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eaLnBrk="0">
                        <a:lnSpc>
                          <a:spcPts val="2340"/>
                        </a:lnSpc>
                      </a:pPr>
                      <a:r>
                        <a:rPr sz="1800" b="0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$8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eaLnBrk="0">
                        <a:lnSpc>
                          <a:spcPts val="2340"/>
                        </a:lnSpc>
                      </a:pPr>
                      <a:r>
                        <a:rPr sz="1800" b="0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 10,700원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ChatGPT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0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Plus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eaLnBrk="0">
                        <a:lnSpc>
                          <a:spcPts val="2340"/>
                        </a:lnSpc>
                      </a:pPr>
                      <a:r>
                        <a:rPr sz="1800" b="0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$20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eaLnBrk="0">
                        <a:lnSpc>
                          <a:spcPts val="2340"/>
                        </a:lnSpc>
                      </a:pPr>
                      <a:r>
                        <a:rPr sz="1800" b="0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 26,800원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ChatGPT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0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Pro (5배·20배·Ultrafas…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eaLnBrk="0">
                        <a:lnSpc>
                          <a:spcPts val="2340"/>
                        </a:lnSpc>
                      </a:pPr>
                      <a:r>
                        <a:rPr sz="1800" b="0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$100 · $200 · $500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eaLnBrk="0">
                        <a:lnSpc>
                          <a:spcPts val="2340"/>
                        </a:lnSpc>
                      </a:pPr>
                      <a:r>
                        <a:rPr sz="1800" b="0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 13만4,100원부터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Claude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0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Pro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eaLnBrk="0">
                        <a:lnSpc>
                          <a:spcPts val="2340"/>
                        </a:lnSpc>
                      </a:pPr>
                      <a:r>
                        <a:rPr sz="1800" b="0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$20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eaLnBrk="0">
                        <a:lnSpc>
                          <a:spcPts val="2340"/>
                        </a:lnSpc>
                      </a:pPr>
                      <a:r>
                        <a:rPr sz="1800" b="0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 26,800원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Claude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0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Max (5배부터)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eaLnBrk="0">
                        <a:lnSpc>
                          <a:spcPts val="2340"/>
                        </a:lnSpc>
                      </a:pPr>
                      <a:r>
                        <a:rPr sz="1800" b="0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$100부터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eaLnBrk="0">
                        <a:lnSpc>
                          <a:spcPts val="2340"/>
                        </a:lnSpc>
                      </a:pPr>
                      <a:r>
                        <a:rPr sz="1800" b="0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 134,100원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Google AI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0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Plus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eaLnBrk="0">
                        <a:lnSpc>
                          <a:spcPts val="2340"/>
                        </a:lnSpc>
                      </a:pPr>
                      <a:r>
                        <a:rPr sz="1800" b="0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$4.99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eaLnBrk="0">
                        <a:lnSpc>
                          <a:spcPts val="2340"/>
                        </a:lnSpc>
                      </a:pPr>
                      <a:r>
                        <a:rPr sz="1800" b="0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₩7,500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Google AI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0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Pro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eaLnBrk="0">
                        <a:lnSpc>
                          <a:spcPts val="2340"/>
                        </a:lnSpc>
                      </a:pPr>
                      <a:r>
                        <a:rPr sz="1800" b="0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$19.99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eaLnBrk="0">
                        <a:lnSpc>
                          <a:spcPts val="2340"/>
                        </a:lnSpc>
                      </a:pPr>
                      <a:r>
                        <a:rPr sz="1800" b="0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 26,800원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1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Google AI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ts val="2340"/>
                        </a:lnSpc>
                      </a:pPr>
                      <a:r>
                        <a:rPr sz="1800" b="0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Ultra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eaLnBrk="0">
                        <a:lnSpc>
                          <a:spcPts val="2340"/>
                        </a:lnSpc>
                      </a:pPr>
                      <a:r>
                        <a:rPr sz="1800" b="0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$99.99부터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eaLnBrk="0">
                        <a:lnSpc>
                          <a:spcPts val="2340"/>
                        </a:lnSpc>
                      </a:pPr>
                      <a:r>
                        <a:rPr sz="1800" b="0" lang="ko-KR" altLang="en-US">
                          <a:solidFill>
                            <a:srgbClr val="11121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₩119,000부터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55448"/>
            <a:ext cx="100584" cy="100584"/>
          </a:xfrm>
          <a:prstGeom prst="rect">
            <a:avLst/>
          </a:prstGeom>
          <a:solidFill>
            <a:srgbClr val="17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"/>
            <a:ext cx="82296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560"/>
              </a:lnSpc>
            </a:pPr>
            <a:r>
              <a:rPr sz="12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트렌드 브리핑 · 2026년 10월 2주차 · 2026-10-14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57055" y="45720"/>
            <a:ext cx="22860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560"/>
              </a:lnSpc>
            </a:pPr>
            <a:r>
              <a:rPr sz="12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Unfade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"/>
            <a:ext cx="11094415" cy="12801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080"/>
              </a:lnSpc>
            </a:pPr>
            <a:r>
              <a:rPr sz="1600" b="1" lang="ko-KR" altLang="en-US">
                <a:solidFill>
                  <a:srgbClr val="17334B"/>
                </a:solidFill>
                <a:latin typeface="Malgun Gothic"/>
                <a:ea typeface="Malgun Gothic"/>
                <a:cs typeface="Malgun Gothic"/>
              </a:rPr>
              <a:t>08 트렌드 · 커뮤니티 반응 (등급 C, 사실과 구분)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11094415" cy="9326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379"/>
              </a:lnSpc>
            </a:pPr>
            <a:r>
              <a:rPr sz="2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커뮤니티는 새 모델을 반기면서도 '성능 저하'와 '사생활'을 걱정했다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7336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96926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430"/>
              </a:lnSpc>
            </a:pPr>
            <a:r>
              <a:rPr sz="11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출처: Hacker News, Anthropic, Character.AI, Cactus Compute 외 1곳 · 이용자 반응 요약 · 전체 출처는 마지막 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00800"/>
            <a:ext cx="14630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430"/>
              </a:lnSpc>
            </a:pP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17 / 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920240"/>
            <a:ext cx="1305306" cy="406908"/>
          </a:xfrm>
          <a:prstGeom prst="roundRect">
            <a:avLst>
              <a:gd name="adj" fmla="val 50000"/>
            </a:avLst>
          </a:prstGeom>
          <a:solidFill>
            <a:srgbClr val="F1EEE5"/>
          </a:solidFill>
          <a:ln w="12700">
            <a:solidFill>
              <a:srgbClr val="7A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7A5E00"/>
                </a:solidFill>
                <a:latin typeface="Malgun Gothic"/>
                <a:ea typeface="Malgun Gothic"/>
                <a:cs typeface="Malgun Gothic"/>
              </a:rPr>
              <a:t>반응 혼재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91105" y="1901952"/>
            <a:ext cx="9651949" cy="6858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새 모델 경쟁과 '몰래 성능을 낮춘다'는 의심</a:t>
            </a: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 — 많은 개발자가 새 모델의 성능·가격 개선을 반기면서도, 출시 뒤 품질이 떨어진다는…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52344"/>
            <a:ext cx="1305306" cy="406908"/>
          </a:xfrm>
          <a:prstGeom prst="roundRect">
            <a:avLst>
              <a:gd name="adj" fmla="val 50000"/>
            </a:avLst>
          </a:prstGeom>
          <a:solidFill>
            <a:srgbClr val="F7E9E9"/>
          </a:solidFill>
          <a:ln w="12700">
            <a:solidFill>
              <a:srgbClr val="B423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B42323"/>
                </a:solidFill>
                <a:latin typeface="Malgun Gothic"/>
                <a:ea typeface="Malgun Gothic"/>
                <a:cs typeface="Malgun Gothic"/>
              </a:rPr>
              <a:t>반응 부정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91105" y="2734056"/>
            <a:ext cx="9651949" cy="6858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대화의 사생활과 수사기관 제보</a:t>
            </a: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 — 실제 위협 대응은 필요하다고 보면서도 사적 대화가 자동으로 감시되는 것을 우려하는…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84448"/>
            <a:ext cx="1305306" cy="406908"/>
          </a:xfrm>
          <a:prstGeom prst="roundRect">
            <a:avLst>
              <a:gd name="adj" fmla="val 50000"/>
            </a:avLst>
          </a:prstGeom>
          <a:solidFill>
            <a:srgbClr val="F1EEE5"/>
          </a:solidFill>
          <a:ln w="12700">
            <a:solidFill>
              <a:srgbClr val="7A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7A5E00"/>
                </a:solidFill>
                <a:latin typeface="Malgun Gothic"/>
                <a:ea typeface="Malgun Gothic"/>
                <a:cs typeface="Malgun Gothic"/>
              </a:rPr>
              <a:t>반응 혼재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91105" y="3566160"/>
            <a:ext cx="9651949" cy="6858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기업의 안전 서사와 수익성</a:t>
            </a: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 — 위험을 강조하는 것이 마케팅이라는 비판과 외부 감독이 필요하다는 의견이 함께…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416552"/>
            <a:ext cx="1305306" cy="406908"/>
          </a:xfrm>
          <a:prstGeom prst="roundRect">
            <a:avLst>
              <a:gd name="adj" fmla="val 50000"/>
            </a:avLst>
          </a:prstGeom>
          <a:solidFill>
            <a:srgbClr val="E6F1F0"/>
          </a:solidFill>
          <a:ln w="12700">
            <a:solidFill>
              <a:srgbClr val="0A73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반응 긍정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91105" y="4398264"/>
            <a:ext cx="9651949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작고 로컬에서 도는 모델</a:t>
            </a: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 — '내 기기에서, 작게, 싸게' 돌아가는 모델에 대한 관심이 높았다.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020056"/>
            <a:ext cx="1305306" cy="406908"/>
          </a:xfrm>
          <a:prstGeom prst="roundRect">
            <a:avLst>
              <a:gd name="adj" fmla="val 50000"/>
            </a:avLst>
          </a:prstGeom>
          <a:solidFill>
            <a:srgbClr val="F7E9E9"/>
          </a:solidFill>
          <a:ln w="12700">
            <a:solidFill>
              <a:srgbClr val="B423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B42323"/>
                </a:solidFill>
                <a:latin typeface="Malgun Gothic"/>
                <a:ea typeface="Malgun Gothic"/>
                <a:cs typeface="Malgun Gothic"/>
              </a:rPr>
              <a:t>반응 부정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91105" y="5001768"/>
            <a:ext cx="9651949" cy="6858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생성물·봇 트래픽 피로</a:t>
            </a:r>
            <a:r>
              <a:rPr sz="18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 — 사람이 쓰지 않은 글을 읽기 싫다는 반응과 AI 봇 트래픽 폭증, 진위 훼손에…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55448"/>
            <a:ext cx="100584" cy="100584"/>
          </a:xfrm>
          <a:prstGeom prst="rect">
            <a:avLst/>
          </a:prstGeom>
          <a:solidFill>
            <a:srgbClr val="17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"/>
            <a:ext cx="82296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560"/>
              </a:lnSpc>
            </a:pPr>
            <a:r>
              <a:rPr sz="12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트렌드 브리핑 · 2026년 10월 2주차 · 2026-10-14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57055" y="45720"/>
            <a:ext cx="22860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560"/>
              </a:lnSpc>
            </a:pPr>
            <a:r>
              <a:rPr sz="12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Unfade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"/>
            <a:ext cx="11094415" cy="12801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080"/>
              </a:lnSpc>
            </a:pPr>
            <a:r>
              <a:rPr sz="1600" b="1" lang="ko-KR" altLang="en-US">
                <a:solidFill>
                  <a:srgbClr val="17334B"/>
                </a:solidFill>
                <a:latin typeface="Malgun Gothic"/>
                <a:ea typeface="Malgun Gothic"/>
                <a:cs typeface="Malgun Gothic"/>
              </a:rPr>
              <a:t>08 트렌드 · 다음 보고서까지 추적할 항목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11094415" cy="9326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379"/>
              </a:lnSpc>
            </a:pPr>
            <a:r>
              <a:rPr sz="2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다음 호까지 가격 인상 예고·규제 시한·출시 예정 항목을 지켜본다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7336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96926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430"/>
              </a:lnSpc>
            </a:pPr>
            <a:r>
              <a:rPr sz="11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출처: Google, The Hans India, Kling AI, Mistral AI · 전체 출처는 마지막 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00800"/>
            <a:ext cx="14630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430"/>
              </a:lnSpc>
            </a:pP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18 / 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920240"/>
            <a:ext cx="1305306" cy="406908"/>
          </a:xfrm>
          <a:prstGeom prst="roundRect">
            <a:avLst>
              <a:gd name="adj" fmla="val 50000"/>
            </a:avLst>
          </a:prstGeom>
          <a:solidFill>
            <a:srgbClr val="E6F1F0"/>
          </a:solidFill>
          <a:ln w="12700">
            <a:solidFill>
              <a:srgbClr val="0A73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공식 예고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1901952"/>
            <a:ext cx="9631375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Gemini 4 Argon API 가격 인상(12/1)과 무료·Plus·한국 확대 여부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244852"/>
            <a:ext cx="9631375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신호 · 12/1 가격 적용 여부, 한국어 페이지의 '일부 국가' 표기 변화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63240"/>
            <a:ext cx="768096" cy="406908"/>
          </a:xfrm>
          <a:prstGeom prst="roundRect">
            <a:avLst>
              <a:gd name="adj" fmla="val 50000"/>
            </a:avLst>
          </a:prstGeom>
          <a:solidFill>
            <a:srgbClr val="F1EEE5"/>
          </a:solidFill>
          <a:ln w="12700">
            <a:solidFill>
              <a:srgbClr val="7A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7A5E00"/>
                </a:solidFill>
                <a:latin typeface="Malgun Gothic"/>
                <a:ea typeface="Malgun Gothic"/>
                <a:cs typeface="Malgun Gothic"/>
              </a:rPr>
              <a:t>루머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044952"/>
            <a:ext cx="9631375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OpenAI 'GPT-6.1 Astra' 공개 여부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387852"/>
            <a:ext cx="9631375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신호 · OpenAI 공식 발표·모델 문서 등재 여부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06240"/>
            <a:ext cx="1305306" cy="406908"/>
          </a:xfrm>
          <a:prstGeom prst="roundRect">
            <a:avLst>
              <a:gd name="adj" fmla="val 50000"/>
            </a:avLst>
          </a:prstGeom>
          <a:solidFill>
            <a:srgbClr val="E6F1F0"/>
          </a:solidFill>
          <a:ln w="12700">
            <a:solidFill>
              <a:srgbClr val="0A73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공식 예고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187952"/>
            <a:ext cx="9631375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Kling 4.0 정식 출시(10월)와 2분 연장·HDR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530852"/>
            <a:ext cx="9631375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신호 · 일반 구독자 개방, 요금 공개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49240"/>
            <a:ext cx="1305306" cy="406908"/>
          </a:xfrm>
          <a:prstGeom prst="roundRect">
            <a:avLst>
              <a:gd name="adj" fmla="val 50000"/>
            </a:avLst>
          </a:prstGeom>
          <a:solidFill>
            <a:srgbClr val="E6F1F0"/>
          </a:solidFill>
          <a:ln w="12700">
            <a:solidFill>
              <a:srgbClr val="0A73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공식 예고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5330952"/>
            <a:ext cx="9631375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Mistral Large 4 가중치(오픈 웨이트) 공개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673852"/>
            <a:ext cx="9631375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신호 · 공개 여부·라이선스 조건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55448"/>
            <a:ext cx="100584" cy="100584"/>
          </a:xfrm>
          <a:prstGeom prst="rect">
            <a:avLst/>
          </a:prstGeom>
          <a:solidFill>
            <a:srgbClr val="17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"/>
            <a:ext cx="82296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560"/>
              </a:lnSpc>
            </a:pPr>
            <a:r>
              <a:rPr sz="12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트렌드 브리핑 · 2026년 10월 2주차 · 2026-10-14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57055" y="45720"/>
            <a:ext cx="22860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560"/>
              </a:lnSpc>
            </a:pPr>
            <a:r>
              <a:rPr sz="12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Unfade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"/>
            <a:ext cx="11094415" cy="12801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080"/>
              </a:lnSpc>
            </a:pPr>
            <a:r>
              <a:rPr sz="1600" b="1" lang="ko-KR" altLang="en-US">
                <a:solidFill>
                  <a:srgbClr val="17334B"/>
                </a:solidFill>
                <a:latin typeface="Malgun Gothic"/>
                <a:ea typeface="Malgun Gothic"/>
                <a:cs typeface="Malgun Gothic"/>
              </a:rPr>
              <a:t>08 트렌드 · 다음 보고서까지 추적할 항목 (계속)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11094415" cy="9326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379"/>
              </a:lnSpc>
            </a:pPr>
            <a:r>
              <a:rPr sz="2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다음 호까지 가격 인상 예고·규제 시한·출시 예정 항목을 지켜본다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7336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96926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430"/>
              </a:lnSpc>
            </a:pPr>
            <a:r>
              <a:rPr sz="11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출처: Anthropic, 미국 백악관, AI타임스, Cooley(법률 블로그) · 전체 출처는 마지막 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00800"/>
            <a:ext cx="14630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430"/>
              </a:lnSpc>
            </a:pP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19 / 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920240"/>
            <a:ext cx="1305306" cy="406908"/>
          </a:xfrm>
          <a:prstGeom prst="roundRect">
            <a:avLst>
              <a:gd name="adj" fmla="val 50000"/>
            </a:avLst>
          </a:prstGeom>
          <a:solidFill>
            <a:srgbClr val="E6F1F0"/>
          </a:solidFill>
          <a:ln w="12700">
            <a:solidFill>
              <a:srgbClr val="0A73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공식 예고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1901952"/>
            <a:ext cx="9631375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Anthropic 이용정책 개정 시행(11/12)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244852"/>
            <a:ext cx="9631375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신호 · 시행 후 계정 제재 사례·문의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63240"/>
            <a:ext cx="1305306" cy="406908"/>
          </a:xfrm>
          <a:prstGeom prst="roundRect">
            <a:avLst>
              <a:gd name="adj" fmla="val 50000"/>
            </a:avLst>
          </a:prstGeom>
          <a:solidFill>
            <a:srgbClr val="E6F1F0"/>
          </a:solidFill>
          <a:ln w="12700">
            <a:solidFill>
              <a:srgbClr val="0A73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공식 예고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044952"/>
            <a:ext cx="9631375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미국 연방 'Super Intelligence' 정의 입법안 제출 시한(행정명령 후 60일)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387852"/>
            <a:ext cx="9631375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신호 · 입법안 내용, 주법과의 충돌 소송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06240"/>
            <a:ext cx="768096" cy="406908"/>
          </a:xfrm>
          <a:prstGeom prst="roundRect">
            <a:avLst>
              <a:gd name="adj" fmla="val 50000"/>
            </a:avLst>
          </a:prstGeom>
          <a:solidFill>
            <a:srgbClr val="E8EFF7"/>
          </a:solidFill>
          <a:ln w="12700">
            <a:solidFill>
              <a:srgbClr val="1D5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1D5FB8"/>
                </a:solidFill>
                <a:latin typeface="Malgun Gothic"/>
                <a:ea typeface="Malgun Gothic"/>
                <a:cs typeface="Malgun Gothic"/>
              </a:rPr>
              <a:t>보도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187952"/>
            <a:ext cx="9631375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호주 의회 AI 청문회 최종 보고서 — 에이전트 사고 신고 의무화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530852"/>
            <a:ext cx="9631375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신호 · 의무 신고 제도화 여부, 다른 나라 확산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49240"/>
            <a:ext cx="768096" cy="406908"/>
          </a:xfrm>
          <a:prstGeom prst="roundRect">
            <a:avLst>
              <a:gd name="adj" fmla="val 50000"/>
            </a:avLst>
          </a:prstGeom>
          <a:solidFill>
            <a:srgbClr val="E8EFF7"/>
          </a:solidFill>
          <a:ln w="12700">
            <a:solidFill>
              <a:srgbClr val="1D5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1D5FB8"/>
                </a:solidFill>
                <a:latin typeface="Malgun Gothic"/>
                <a:ea typeface="Malgun Gothic"/>
                <a:cs typeface="Malgun Gothic"/>
              </a:rPr>
              <a:t>보도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5330952"/>
            <a:ext cx="9631375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EU AI법: 기존 시스템 표시 유예 종료·누드화 앱 금지 적용(12/2)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673852"/>
            <a:ext cx="9631375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신호 · 주요 서비스의 EU 표시 대응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55448"/>
            <a:ext cx="100584" cy="100584"/>
          </a:xfrm>
          <a:prstGeom prst="rect">
            <a:avLst/>
          </a:prstGeom>
          <a:solidFill>
            <a:srgbClr val="17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"/>
            <a:ext cx="82296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560"/>
              </a:lnSpc>
            </a:pPr>
            <a:r>
              <a:rPr sz="12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트렌드 브리핑 · 2026년 10월 2주차 · 2026-10-14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57055" y="45720"/>
            <a:ext cx="22860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560"/>
              </a:lnSpc>
            </a:pPr>
            <a:r>
              <a:rPr sz="12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Unfade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"/>
            <a:ext cx="11094415" cy="12801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080"/>
              </a:lnSpc>
            </a:pPr>
            <a:r>
              <a:rPr sz="1600" b="1" lang="ko-KR" altLang="en-US">
                <a:solidFill>
                  <a:srgbClr val="17334B"/>
                </a:solidFill>
                <a:latin typeface="Malgun Gothic"/>
                <a:ea typeface="Malgun Gothic"/>
                <a:cs typeface="Malgun Gothic"/>
              </a:rPr>
              <a:t>08 트렌드 · 다음 보고서까지 추적할 항목 (계속)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11094415" cy="9326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379"/>
              </a:lnSpc>
            </a:pPr>
            <a:r>
              <a:rPr sz="2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다음 호까지 가격 인상 예고·규제 시한·출시 예정 항목을 지켜본다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7336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96926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430"/>
              </a:lnSpc>
            </a:pPr>
            <a:r>
              <a:rPr sz="11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출처: 전자신문, Trimble, 헤럴드경제, 파이낸셜뉴스 외 1곳 · 전체 출처는 마지막 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00800"/>
            <a:ext cx="14630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430"/>
              </a:lnSpc>
            </a:pP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20 / 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920240"/>
            <a:ext cx="768096" cy="406908"/>
          </a:xfrm>
          <a:prstGeom prst="roundRect">
            <a:avLst>
              <a:gd name="adj" fmla="val 50000"/>
            </a:avLst>
          </a:prstGeom>
          <a:solidFill>
            <a:srgbClr val="E8EFF7"/>
          </a:solidFill>
          <a:ln w="12700">
            <a:solidFill>
              <a:srgbClr val="1D5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1D5FB8"/>
                </a:solidFill>
                <a:latin typeface="Malgun Gothic"/>
                <a:ea typeface="Malgun Gothic"/>
                <a:cs typeface="Malgun Gothic"/>
              </a:rPr>
              <a:t>보도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1901952"/>
            <a:ext cx="9631375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국가 AI 안전생태계 조성 마스터플랜(12월 예정)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244852"/>
            <a:ext cx="9631375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신호 · 안전·신뢰 예산 비중, 에이전트 사고 신고 논의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63240"/>
            <a:ext cx="1305306" cy="406908"/>
          </a:xfrm>
          <a:prstGeom prst="roundRect">
            <a:avLst>
              <a:gd name="adj" fmla="val 50000"/>
            </a:avLst>
          </a:prstGeom>
          <a:solidFill>
            <a:srgbClr val="E6F1F0"/>
          </a:solidFill>
          <a:ln w="12700">
            <a:solidFill>
              <a:srgbClr val="0A73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공식 예고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044952"/>
            <a:ext cx="9631375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트림블 Dimensions 2026(11/9~11) — 건설 AI 에이전트 발표 여부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387852"/>
            <a:ext cx="9631375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신호 · Agent Studio 등 건설 에이전트 출시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06240"/>
            <a:ext cx="768096" cy="406908"/>
          </a:xfrm>
          <a:prstGeom prst="roundRect">
            <a:avLst>
              <a:gd name="adj" fmla="val 50000"/>
            </a:avLst>
          </a:prstGeom>
          <a:solidFill>
            <a:srgbClr val="E8EFF7"/>
          </a:solidFill>
          <a:ln w="12700">
            <a:solidFill>
              <a:srgbClr val="1D5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1D5FB8"/>
                </a:solidFill>
                <a:latin typeface="Malgun Gothic"/>
                <a:ea typeface="Malgun Gothic"/>
                <a:cs typeface="Malgun Gothic"/>
              </a:rPr>
              <a:t>보도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187952"/>
            <a:ext cx="9631375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2026 스마트건설 EXPO(11/25~27) — 기술실증 10건 성과 공개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530852"/>
            <a:ext cx="9631375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신호 · AI 균열 점검·위험작업 탐지 실증 결과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49240"/>
            <a:ext cx="768096" cy="406908"/>
          </a:xfrm>
          <a:prstGeom prst="roundRect">
            <a:avLst>
              <a:gd name="adj" fmla="val 50000"/>
            </a:avLst>
          </a:prstGeom>
          <a:solidFill>
            <a:srgbClr val="E8EFF7"/>
          </a:solidFill>
          <a:ln w="12700">
            <a:solidFill>
              <a:srgbClr val="1D5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>
            <a:noAutofit/>
          </a:bodyPr>
          <a:lstStyle/>
          <a:p>
            <a:pPr algn="ctr" eaLnBrk="0">
              <a:lnSpc>
                <a:spcPts val="2340"/>
              </a:lnSpc>
            </a:pPr>
            <a:r>
              <a:rPr sz="1800" b="1" lang="ko-KR" altLang="en-US">
                <a:solidFill>
                  <a:srgbClr val="1D5FB8"/>
                </a:solidFill>
                <a:latin typeface="Malgun Gothic"/>
                <a:ea typeface="Malgun Gothic"/>
                <a:cs typeface="Malgun Gothic"/>
              </a:rPr>
              <a:t>보도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5330952"/>
            <a:ext cx="9631375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서울시 한강교량 무인점검 4종 평가(12월)와 2027년 시범 도입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673852"/>
            <a:ext cx="9631375" cy="3886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340"/>
              </a:lnSpc>
            </a:pPr>
            <a:r>
              <a:rPr sz="18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신호 · 평가 결과, 점검 용역 과업 반영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55448"/>
            <a:ext cx="100584" cy="100584"/>
          </a:xfrm>
          <a:prstGeom prst="rect">
            <a:avLst/>
          </a:prstGeom>
          <a:solidFill>
            <a:srgbClr val="17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"/>
            <a:ext cx="82296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560"/>
              </a:lnSpc>
            </a:pPr>
            <a:r>
              <a:rPr sz="12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트렌드 브리핑 · 2026년 10월 2주차 · 2026-10-14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57055" y="45720"/>
            <a:ext cx="22860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560"/>
              </a:lnSpc>
            </a:pPr>
            <a:r>
              <a:rPr sz="12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Unfade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"/>
            <a:ext cx="11094415" cy="12801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080"/>
              </a:lnSpc>
            </a:pPr>
            <a:r>
              <a:rPr sz="1600" b="1" lang="ko-KR" altLang="en-US">
                <a:solidFill>
                  <a:srgbClr val="17334B"/>
                </a:solidFill>
                <a:latin typeface="Malgun Gothic"/>
                <a:ea typeface="Malgun Gothic"/>
                <a:cs typeface="Malgun Gothic"/>
              </a:rPr>
              <a:t>출처 · 전체 목록 (1/9)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11094415" cy="9326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379"/>
              </a:lnSpc>
            </a:pPr>
            <a:r>
              <a:rPr sz="2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이번 호는 검색 199회, 출처 181개를 근거로 했다 (A 95 · B 82 · C 4)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7336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96926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430"/>
              </a:lnSpc>
            </a:pPr>
            <a:r>
              <a:rPr sz="11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확인일 2026-10-14 · 전체 주소는 조사근거(research.md)와 HTML 출처 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00800"/>
            <a:ext cx="14630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430"/>
              </a:lnSpc>
            </a:pP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21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01952"/>
            <a:ext cx="5410047" cy="43708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Adobe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Firefly plans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2.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Amazon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Amazon data centers: built…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3.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Anthropic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Release notes (Claude)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4.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Anthropic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Plans &amp; Pricing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5.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Anthropic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2026-03-16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Can Claude produce images?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6.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Anthropic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2026-08-06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Create and edit files with Claude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7.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Anthropic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2026-09-22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Introducing Claude Opus 5.5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8.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Anthropic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2026-09-28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Introducing Claude Sonnet 5.5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9.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Anthropic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2026-10-07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Introducing Claude Haiku 5.5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10.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Anthropic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2026-10-08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2026 Usage Policy update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11.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Anthropic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2026-10-09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Investigating unintended model…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12.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Arena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2026-10-08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Arena 리더보드 공식 공개 데이터셋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13.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Artificial…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LLM Leaderboard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007" y="1901952"/>
            <a:ext cx="5410047" cy="43708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14.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arXiv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2026-09-16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ReliCAD: From Uncertain LLM…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15.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arXiv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2026-09-22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Evidence-gated multimodal parsing…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16.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arXiv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2026-09-28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K-OPSD: Verifiable On-Policy…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17.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Autodesk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2026-09-15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Autodesk Advances Agentic AI in…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18.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Autodesk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2026-09-15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How Autodesk Forma and AI are…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19.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Autodesk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2026-09-15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Closing the loop: how operations…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20.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Autodesk(일본 법인)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2026-09-17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Autodesk、Forma の対応領域を AEC…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21.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Autodesk(일본 법인)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2026-09-24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Autodesk、3つの業界別クラウドでエージェント型AIを強化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22.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Bentley Systems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2026-10-06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YII Awards opens with a new format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23.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Bentley Systems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2026-10-07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Bentley Systems Announces Winners…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55448"/>
            <a:ext cx="100584" cy="100584"/>
          </a:xfrm>
          <a:prstGeom prst="rect">
            <a:avLst/>
          </a:prstGeom>
          <a:solidFill>
            <a:srgbClr val="17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"/>
            <a:ext cx="82296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560"/>
              </a:lnSpc>
            </a:pPr>
            <a:r>
              <a:rPr sz="12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트렌드 브리핑 · 2026년 10월 2주차 · 2026-10-14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57055" y="45720"/>
            <a:ext cx="22860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560"/>
              </a:lnSpc>
            </a:pPr>
            <a:r>
              <a:rPr sz="12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Unfade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"/>
            <a:ext cx="11094415" cy="12801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080"/>
              </a:lnSpc>
            </a:pPr>
            <a:r>
              <a:rPr sz="1600" b="1" lang="ko-KR" altLang="en-US">
                <a:solidFill>
                  <a:srgbClr val="17334B"/>
                </a:solidFill>
                <a:latin typeface="Malgun Gothic"/>
                <a:ea typeface="Malgun Gothic"/>
                <a:cs typeface="Malgun Gothic"/>
              </a:rPr>
              <a:t>출처 · 전체 목록 (2/9)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11094415" cy="9326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379"/>
              </a:lnSpc>
            </a:pPr>
            <a:r>
              <a:rPr sz="2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이번 호는 검색 199회, 출처 181개를 근거로 했다 (A 95 · B 82 · C 4)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7336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96926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430"/>
              </a:lnSpc>
            </a:pPr>
            <a:r>
              <a:rPr sz="11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확인일 2026-10-14 · 전체 주소는 조사근거(research.md)와 HTML 출처 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00800"/>
            <a:ext cx="14630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430"/>
              </a:lnSpc>
            </a:pP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22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01952"/>
            <a:ext cx="5410047" cy="43708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24.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buildingSMART…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buildingSMART International…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25.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buildingSMART(GitH…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IFC5-development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26.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Cactus Compute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2026-10-02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Whistle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27.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Challenger, Gray…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2026-10-01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Challenger Report September 2026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28.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Character.AI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2026-10-12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An update on Character.ai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29.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Cursor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Pricing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30.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ElevenLabs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Pricing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31.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ElevenLabs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2026-09-28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Introducing Eleven v4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32.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ElevenLabs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2026-10-09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Usage Policy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33.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GitHub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2026-09-24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Default Enablement of Copilot…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34.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GitHub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2026-10-01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GitHub Copilot can now interact…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35.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GitHub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2026-10-07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Local sandboxing for GitHub…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36.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Google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Gemini Developer API pricing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37.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Google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Gemini Apps release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007" y="1901952"/>
            <a:ext cx="5410047" cy="43708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38.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Google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Google AI Plans (미국)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39.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Google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Gemini API changelog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40.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Google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Image generation (Gemini API)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41.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Google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Google AI 요금제 (한국)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42.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Google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Gemini Omni (Gemini API)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43.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Google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Veo (Gemini API)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44.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Google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2026-09-23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Gemini 3.8 text-to-speech says…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45.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Google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2026-09-30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Gemini 4 Argon: our next era of…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46.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Google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2026-10-07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We're making it easier to…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47.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Google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2026-10-13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Gemini 4 Argon is now available…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48.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Google Cloud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2026-10-09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Welcome to Gemini at Work 2026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49.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Google(Gemini 도움말)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Changes to Gemini model access…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55448"/>
            <a:ext cx="100584" cy="100584"/>
          </a:xfrm>
          <a:prstGeom prst="rect">
            <a:avLst/>
          </a:prstGeom>
          <a:solidFill>
            <a:srgbClr val="17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"/>
            <a:ext cx="82296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560"/>
              </a:lnSpc>
            </a:pPr>
            <a:r>
              <a:rPr sz="12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트렌드 브리핑 · 2026년 10월 2주차 · 2026-10-14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57055" y="45720"/>
            <a:ext cx="22860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560"/>
              </a:lnSpc>
            </a:pPr>
            <a:r>
              <a:rPr sz="12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Unfade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"/>
            <a:ext cx="11094415" cy="12801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080"/>
              </a:lnSpc>
            </a:pPr>
            <a:r>
              <a:rPr sz="1600" b="1" lang="ko-KR" altLang="en-US">
                <a:solidFill>
                  <a:srgbClr val="17334B"/>
                </a:solidFill>
                <a:latin typeface="Malgun Gothic"/>
                <a:ea typeface="Malgun Gothic"/>
                <a:cs typeface="Malgun Gothic"/>
              </a:rPr>
              <a:t>출처 · 전체 목록 (3/9)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11094415" cy="9326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379"/>
              </a:lnSpc>
            </a:pPr>
            <a:r>
              <a:rPr sz="2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이번 호는 검색 199회, 출처 181개를 근거로 했다 (A 95 · B 82 · C 4)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7336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96926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430"/>
              </a:lnSpc>
            </a:pPr>
            <a:r>
              <a:rPr sz="11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확인일 2026-10-14 · 전체 주소는 조사근거(research.md)와 HTML 출처 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00800"/>
            <a:ext cx="14630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430"/>
              </a:lnSpc>
            </a:pP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23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01952"/>
            <a:ext cx="5410047" cy="43708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50.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KDI 경제정보센터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2026-09-13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글로벌 인프라 협력의 장 「GICC 2026」…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51.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Kling AI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2026-09-30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Introducing Kling 4.0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52.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Kling AI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2026-09-30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Kling 4.0 vs 3.0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53.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Luma AI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Pricing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54.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Microsoft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Compare all Microsoft 365 plans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55.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Microsoft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Microsoft 365 Copilot pricing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56.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Microsoft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2026-09-23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Building the system for AI at work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57.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Microsoft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2026-09-25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Introducing the new Copilot with…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58.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Microsoft Learn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Microsoft 365 Copilot release…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59.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Midjourney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2026-07-24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Version 8.2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60.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Midjourney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2026-09-24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Edit updates, thumbnail previews…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61.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Midjourney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2026-10-08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Testing Thinking Mode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62.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Mistral AI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2026-10-06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Introducing Mistral Large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007" y="1901952"/>
            <a:ext cx="5410047" cy="43708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63.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Nemetschek Group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2026-10-07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Graphisoft unveils 2026 product…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64.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OpenAI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API Changelog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65.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OpenAI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Sora 2 모델 페이지(종료 공지)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66.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OpenAI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Deprecations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67.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OpenAI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Models (API 문서)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68.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OpenAI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Pricing (ChatGPT·Codex 플랜)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69.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OpenAI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2026-09-08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GPT-Image-2.5 Flare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70.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Perplexity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Changelog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71.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Perplexity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What is Perplexity Pro?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72.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Perplexity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What is Computer?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73.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Pika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Pricing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74.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Pika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2026-09-17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Welcome to the New Pika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75.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Runway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Pricing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76.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Runway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API Changelog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77.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Runway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2026-09-15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Terms of Use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78.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Suno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Pricing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79.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Suno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2026-08-10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Terms of Service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55448"/>
            <a:ext cx="100584" cy="100584"/>
          </a:xfrm>
          <a:prstGeom prst="rect">
            <a:avLst/>
          </a:prstGeom>
          <a:solidFill>
            <a:srgbClr val="17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"/>
            <a:ext cx="82296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560"/>
              </a:lnSpc>
            </a:pPr>
            <a:r>
              <a:rPr sz="12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트렌드 브리핑 · 2026년 10월 2주차 · 2026-10-14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57055" y="45720"/>
            <a:ext cx="22860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560"/>
              </a:lnSpc>
            </a:pPr>
            <a:r>
              <a:rPr sz="12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Unfade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"/>
            <a:ext cx="11094415" cy="12801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080"/>
              </a:lnSpc>
            </a:pPr>
            <a:r>
              <a:rPr sz="1600" b="1" lang="ko-KR" altLang="en-US">
                <a:solidFill>
                  <a:srgbClr val="17334B"/>
                </a:solidFill>
                <a:latin typeface="Malgun Gothic"/>
                <a:ea typeface="Malgun Gothic"/>
                <a:cs typeface="Malgun Gothic"/>
              </a:rPr>
              <a:t>출처 · 전체 목록 (4/9)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11094415" cy="9326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379"/>
              </a:lnSpc>
            </a:pPr>
            <a:r>
              <a:rPr sz="2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이번 호는 검색 199회, 출처 181개를 근거로 했다 (A 95 · B 82 · C 4)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7336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96926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430"/>
              </a:lnSpc>
            </a:pPr>
            <a:r>
              <a:rPr sz="11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확인일 2026-10-14 · 전체 주소는 조사근거(research.md)와 HTML 출처 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00800"/>
            <a:ext cx="14630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430"/>
              </a:lnSpc>
            </a:pP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24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01952"/>
            <a:ext cx="5410047" cy="43708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80.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Suno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2026-09-09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Introducing v6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81.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Suno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2026-10-01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Introducing Speech (beta)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82.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Trimble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2026-07-30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Announcing Trimble Dimensions 2026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83.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World Labs 창업자 블로그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2026-09-28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World Labs is joining AMD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84.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xAI 개발자 문서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Models and Pricing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85.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Zoo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2026-10-08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Announcing KCL 3.0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86.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미국 백악관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2026-09-29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Inaugurating The Era Of Super…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87.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삼성전자 반도체 뉴스룸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2026-10-08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삼성전자, 2026년 3분기 잠정실적 발표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88.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일본 국토교통성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2026-09-04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인프라 분야 AI 실장 방침·건설 분야 피지컬 AI…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89.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일본 국토교통성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2026-10-09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建設分野のフィジカルAIコンソーシアム 会員募集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90.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캘리포니아 주지사실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2026-09-30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California's nation-leading AI…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007" y="1901952"/>
            <a:ext cx="5410047" cy="43708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91.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한국건설기술연구원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2026-09-15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건설연, 중남미 5개국 BIM 역량강화 초청연수 개최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92.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한국건설기술연구원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2026-09-15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건설연, 첨단 AI 기술 업고 중남미 인프라 시장으로 뻗어간다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93.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한국건설기술연구원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2026-10-01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AI가 교량 안전성 10분 만에 진단한다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94.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한국건설기술연구원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2026-10-06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"불법주정차 최대 99% 줄였다"… 건설연, AI로 교통질서…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95. [A]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호주 총리실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2026-09-24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Press conference – New York (녹취록)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96.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6abc(WPVI-TV)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2026-10-10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Anthropic AI model submitted…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97.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9to5Mac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2026-10-07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OpenAI brings GPT-6 to ChatGPT…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98.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AI타임스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2026-09-17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LG유플러스·현대엘리베이터, AI 원격관제·보안 협력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99.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AI타임스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2026-09-28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포지큐브, 하나은행에 AI 에이전트 서비스 구축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55448"/>
            <a:ext cx="100584" cy="100584"/>
          </a:xfrm>
          <a:prstGeom prst="rect">
            <a:avLst/>
          </a:prstGeom>
          <a:solidFill>
            <a:srgbClr val="17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"/>
            <a:ext cx="82296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560"/>
              </a:lnSpc>
            </a:pPr>
            <a:r>
              <a:rPr sz="12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트렌드 브리핑 · 2026년 10월 2주차 · 2026-10-14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57055" y="45720"/>
            <a:ext cx="22860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560"/>
              </a:lnSpc>
            </a:pPr>
            <a:r>
              <a:rPr sz="12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Unfade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"/>
            <a:ext cx="11094415" cy="12801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080"/>
              </a:lnSpc>
            </a:pPr>
            <a:r>
              <a:rPr sz="1600" b="1" lang="ko-KR" altLang="en-US">
                <a:solidFill>
                  <a:srgbClr val="17334B"/>
                </a:solidFill>
                <a:latin typeface="Malgun Gothic"/>
                <a:ea typeface="Malgun Gothic"/>
                <a:cs typeface="Malgun Gothic"/>
              </a:rPr>
              <a:t>출처 · 전체 목록 (5/9)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11094415" cy="9326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379"/>
              </a:lnSpc>
            </a:pPr>
            <a:r>
              <a:rPr sz="2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이번 호는 검색 199회, 출처 181개를 근거로 했다 (A 95 · B 82 · C 4)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7336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96926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430"/>
              </a:lnSpc>
            </a:pPr>
            <a:r>
              <a:rPr sz="11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확인일 2026-10-14 · 전체 주소는 조사근거(research.md)와 HTML 출처 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00800"/>
            <a:ext cx="14630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430"/>
              </a:lnSpc>
            </a:pP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25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01952"/>
            <a:ext cx="5410047" cy="43708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100.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AI타임스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2026-09-29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과기정통부, AI중심대학·AX대학원 공동 출범식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101.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AI타임스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2026-10-02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캘리포니아주, 오픈AI에 에이전트 사고 관련 수사 소환장…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102.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AI타임스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2026-10-02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업스테이지 '솔라 프로 4', 다음 포털 금융 서비스에 전면…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103.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AI타임스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2026-10-06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오픈AI, 챗GPT 텍스트에 보이지 않는 워터마크…EU부터…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104.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AI타임스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2026-10-06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멜로니 총리, 딥페이크 대응 위해 목소리 상표 출원(로이터…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105.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AI타임스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2026-10-06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MS·메타, 사내 AI 코딩 도구 사용 축소(The…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106.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AI타임스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2026-10-07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호주 청문회 출석한 오픈AI·앤트로픽 '에이전트 사고 신고…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107.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AI타임스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2026-10-13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오픈AI, 비용 문제로 접었던 '소라' 외부 스타트업에…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108.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AI타임스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2026-10-13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크래프톤, 사상 최대 규모 'AI 네이티브' 신입 채용 나서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007" y="1901952"/>
            <a:ext cx="5410047" cy="43708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109.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Android Headlines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2026-10-08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Google launches universal Gemini…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110.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Architosh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2026-09-16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AU2026: Autodesk expands Forma…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111.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Architosh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2026-09-28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AU2026: key announcements in…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112.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Business Today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2026-10-05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Google Gemini plans are changing…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113.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CalMatters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2026-09-30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On AI, Newsom gives labor only…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114.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Construction…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2026-10-12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and digital delivery dominate…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115.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Construction Dive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2026-09-16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Suffolk, MIT detail where AI can…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116.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Cooley(법률 블로그)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Digital AI omnibus delays key…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117.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Digital Music News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2025-10-29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UMG–Udio deal: everything we know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55448"/>
            <a:ext cx="100584" cy="100584"/>
          </a:xfrm>
          <a:prstGeom prst="rect">
            <a:avLst/>
          </a:prstGeom>
          <a:solidFill>
            <a:srgbClr val="17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"/>
            <a:ext cx="82296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560"/>
              </a:lnSpc>
            </a:pPr>
            <a:r>
              <a:rPr sz="12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트렌드 브리핑 · 2026년 10월 2주차 · 2026-10-14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57055" y="45720"/>
            <a:ext cx="22860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560"/>
              </a:lnSpc>
            </a:pPr>
            <a:r>
              <a:rPr sz="12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Unfade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"/>
            <a:ext cx="11094415" cy="12801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080"/>
              </a:lnSpc>
            </a:pPr>
            <a:r>
              <a:rPr sz="1600" b="1" lang="ko-KR" altLang="en-US">
                <a:solidFill>
                  <a:srgbClr val="17334B"/>
                </a:solidFill>
                <a:latin typeface="Malgun Gothic"/>
                <a:ea typeface="Malgun Gothic"/>
                <a:cs typeface="Malgun Gothic"/>
              </a:rPr>
              <a:t>출처 · 전체 목록 (6/9)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11094415" cy="9326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379"/>
              </a:lnSpc>
            </a:pPr>
            <a:r>
              <a:rPr sz="2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이번 호는 검색 199회, 출처 181개를 근거로 했다 (A 95 · B 82 · C 4)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7336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96926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430"/>
              </a:lnSpc>
            </a:pPr>
            <a:r>
              <a:rPr sz="11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확인일 2026-10-14 · 전체 주소는 조사근거(research.md)와 HTML 출처 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00800"/>
            <a:ext cx="14630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430"/>
              </a:lnSpc>
            </a:pP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26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01952"/>
            <a:ext cx="5410047" cy="43708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118.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Engadget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2026-10-08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GPT-6 is coming to all tiers of…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119.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engineering.com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AU 2026: Autodesk's AI Assistant…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120.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Geo Week News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2026-09-21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FARO INSIGHT introduces new…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121.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Geo Week News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2026-09-30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Trimble reports 60% time savings…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122.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Geo Week News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2026-10-13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Hexagon to acquire Rocscience…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123.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Highways Today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2026-10-08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Bentley's 2026 Infrastructure…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124.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iTWire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2026-09-24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Will somebody please give AI a…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125.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Louisville Public…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2026-10-09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USA Today network, including…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126.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MobileSyrup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2026-10-05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Google limits free, budget user…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007" y="1901952"/>
            <a:ext cx="5410047" cy="43708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127.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Press Gazette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Who's suing AI and who's signing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128.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SBS Biz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2026-10-01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현대차-도로공사, 고속도로 점검에 피지컬 AI 로봇 도입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129.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Stocktwits(Yahoo…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2026-10-13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SpaceX Bundles Grok, X, And…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130.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TechCrunch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2026-09-17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UN turns to Google to make its…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131.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TechCrunch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2026-09-17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The FAA's plan to fix air…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132.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TechCrunch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2026-09-19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Google's Gemini is the latest AI…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133.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TechCrunch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2026-09-22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OpenAI launches GPT-6 Sol and…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134.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TechCrunch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2026-09-24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Oracle sends force majeure notice…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135.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TechCrunch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2026-09-26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Insurers claim AI is already…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55448"/>
            <a:ext cx="100584" cy="100584"/>
          </a:xfrm>
          <a:prstGeom prst="rect">
            <a:avLst/>
          </a:prstGeom>
          <a:solidFill>
            <a:srgbClr val="17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"/>
            <a:ext cx="82296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560"/>
              </a:lnSpc>
            </a:pPr>
            <a:r>
              <a:rPr sz="12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트렌드 브리핑 · 2026년 10월 2주차 · 2026-10-14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57055" y="45720"/>
            <a:ext cx="22860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560"/>
              </a:lnSpc>
            </a:pPr>
            <a:r>
              <a:rPr sz="12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Unfade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"/>
            <a:ext cx="11094415" cy="12801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080"/>
              </a:lnSpc>
            </a:pPr>
            <a:r>
              <a:rPr sz="1600" b="1" lang="ko-KR" altLang="en-US">
                <a:solidFill>
                  <a:srgbClr val="17334B"/>
                </a:solidFill>
                <a:latin typeface="Malgun Gothic"/>
                <a:ea typeface="Malgun Gothic"/>
                <a:cs typeface="Malgun Gothic"/>
              </a:rPr>
              <a:t>출처 · 전체 목록 (7/9)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11094415" cy="9326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379"/>
              </a:lnSpc>
            </a:pPr>
            <a:r>
              <a:rPr sz="2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이번 호는 검색 199회, 출처 181개를 근거로 했다 (A 95 · B 82 · C 4)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7336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96926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430"/>
              </a:lnSpc>
            </a:pPr>
            <a:r>
              <a:rPr sz="11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확인일 2026-10-14 · 전체 주소는 조사근거(research.md)와 HTML 출처 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00800"/>
            <a:ext cx="14630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430"/>
              </a:lnSpc>
            </a:pP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27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01952"/>
            <a:ext cx="5410047" cy="43708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136.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TechCrunch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2026-09-28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AMD will acquire Fei-Fei Li's…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137.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TechCrunch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2026-09-28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Shopify opens checkout to…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138.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TechCrunch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2026-09-28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Anthropic's prospectus details…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139.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TechCrunch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2026-09-29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OpenAI apologizes to Australia…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140.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TechCrunch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2026-09-29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OpenAI reportedly in talks to…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141.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TechCrunch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2026-09-30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Pledge signed by President Trump…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142.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TechCrunch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2026-09-30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Reddit is killing RSS feeds and…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143.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TechCrunch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2026-10-03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Amazon responds to data center…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144.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TechCrunch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2026-10-05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OpenAI will start watermarking…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007" y="1901952"/>
            <a:ext cx="5410047" cy="43708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145.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TechCrunch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2026-10-05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HackerRank's AI interviewer…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146.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TechCrunch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2026-10-07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ChatGPT is getting a lot more…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147.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TechCrunch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2026-10-07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Google's new SynthID website can…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148.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TechCrunch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2026-10-07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ChatGPT for Teens keeps teens…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149.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TechCrunch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2026-10-08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Google releases a new local-first…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150.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TechCrunch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2026-10-08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OpenAI's revenue is reportedly…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151.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TechCrunch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2026-10-13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Just 5 years in, interactive…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152.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TechCrunch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2026-10-13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Amex introduces a framework to…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153.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Teslarati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2026-10-13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SpaceX just combined Grok…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55448"/>
            <a:ext cx="100584" cy="100584"/>
          </a:xfrm>
          <a:prstGeom prst="rect">
            <a:avLst/>
          </a:prstGeom>
          <a:solidFill>
            <a:srgbClr val="17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"/>
            <a:ext cx="82296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560"/>
              </a:lnSpc>
            </a:pPr>
            <a:r>
              <a:rPr sz="12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트렌드 브리핑 · 2026년 10월 2주차 · 2026-10-14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57055" y="45720"/>
            <a:ext cx="22860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560"/>
              </a:lnSpc>
            </a:pPr>
            <a:r>
              <a:rPr sz="12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Unfade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"/>
            <a:ext cx="11094415" cy="12801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080"/>
              </a:lnSpc>
            </a:pPr>
            <a:r>
              <a:rPr sz="1600" b="1" lang="ko-KR" altLang="en-US">
                <a:solidFill>
                  <a:srgbClr val="17334B"/>
                </a:solidFill>
                <a:latin typeface="Malgun Gothic"/>
                <a:ea typeface="Malgun Gothic"/>
                <a:cs typeface="Malgun Gothic"/>
              </a:rPr>
              <a:t>출처 · 전체 목록 (8/9)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11094415" cy="9326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379"/>
              </a:lnSpc>
            </a:pPr>
            <a:r>
              <a:rPr sz="2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이번 호는 검색 199회, 출처 181개를 근거로 했다 (A 95 · B 82 · C 4)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7336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96926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430"/>
              </a:lnSpc>
            </a:pPr>
            <a:r>
              <a:rPr sz="11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확인일 2026-10-14 · 전체 주소는 조사근거(research.md)와 HTML 출처 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00800"/>
            <a:ext cx="14630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430"/>
              </a:lnSpc>
            </a:pP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28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01952"/>
            <a:ext cx="5410047" cy="43708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154.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The Decoder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2026-03-28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OpenAI sets two-stage Sora…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155.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The Next Web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2026-09-18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Universal and Sony sue Suno…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156.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The Quietus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2026-10-07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US man given prison sentence for…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157.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Thurrott.com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2026-09-22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Anthropic Releases Claude Opus 5.5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158.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Variety Australia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2026-09-19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Sony Music, Universal Music Group…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159.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VentureBeat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2026-09-21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Grok 4.7 pairs coding gains with…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160.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VentureBeat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2026-09-22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OpenAI releases GPT-6 Sol and…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161.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VKTR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2026-09-28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ElevenLabs launches Eleven v4 and…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162.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YTN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2026-10-08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삼성전자, 3분기 잠정 영업이익 107조 4천억 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007" y="1901952"/>
            <a:ext cx="5410047" cy="43708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163.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建設通信新聞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2026-10-13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フィジカルAI、来月に産学官コンソーシアム発足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164.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경북매일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2026-10-01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도로공사·현대차그룹 고속도로 피지컬 AI 협약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165.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머니투데이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2026-10-12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'제2의 서소문고가' 사고 막는다…서울시, 교량 점검에…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166.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아시아투데이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2026-09-13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"AI로 재편되는 글로벌 인프라 시장"…국토부, GICC…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167.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엔지니어링데일리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2026-10-01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'누가 쓸 수 있나' 민간 활용 빠진 건설 AI 데이터…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168.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위클리경향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2026-09-29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교육위 국감 쟁점(청소년 AI 채팅·AI 교과서 소송)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169.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전자신문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2026-10-06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[2026 국감] 과방위, 프런티어AI 정책 당위성…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170.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중앙이코노미뉴스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2026-10-07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채팅 한 줄로 해결…토스뱅크, AI 상담 에이전트 도입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171.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천지일보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2026-09-17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공사비 보고 현장 살피는 AI… 건설사 활용 영역 넓어진다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55448"/>
            <a:ext cx="100584" cy="100584"/>
          </a:xfrm>
          <a:prstGeom prst="rect">
            <a:avLst/>
          </a:prstGeom>
          <a:solidFill>
            <a:srgbClr val="173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"/>
            <a:ext cx="82296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560"/>
              </a:lnSpc>
            </a:pPr>
            <a:r>
              <a:rPr sz="12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트렌드 브리핑 · 2026년 10월 2주차 · 2026-10-14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57055" y="45720"/>
            <a:ext cx="228600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560"/>
              </a:lnSpc>
            </a:pPr>
            <a:r>
              <a:rPr sz="12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Unfade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"/>
            <a:ext cx="11094415" cy="12801"/>
          </a:xfrm>
          <a:prstGeom prst="rect">
            <a:avLst/>
          </a:prstGeom>
          <a:solidFill>
            <a:srgbClr val="11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2080"/>
              </a:lnSpc>
            </a:pPr>
            <a:r>
              <a:rPr sz="1600" b="1" lang="ko-KR" altLang="en-US">
                <a:solidFill>
                  <a:srgbClr val="17334B"/>
                </a:solidFill>
                <a:latin typeface="Malgun Gothic"/>
                <a:ea typeface="Malgun Gothic"/>
                <a:cs typeface="Malgun Gothic"/>
              </a:rPr>
              <a:t>출처 · 전체 목록 (9/9)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11094415" cy="93268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3379"/>
              </a:lnSpc>
            </a:pPr>
            <a:r>
              <a:rPr sz="26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이번 호는 검색 199회, 출처 181개를 근거로 했다 (A 95 · B 82 · C 4)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73368"/>
            <a:ext cx="11094415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96926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430"/>
              </a:lnSpc>
            </a:pPr>
            <a:r>
              <a:rPr sz="11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확인일 2026-10-14 · 전체 주소는 조사근거(research.md)와 HTML 출처 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00800"/>
            <a:ext cx="146304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r" eaLnBrk="0">
              <a:lnSpc>
                <a:spcPts val="1430"/>
              </a:lnSpc>
            </a:pP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1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29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01952"/>
            <a:ext cx="5410047" cy="43708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172.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천지일보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2026-10-12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노후교량 안전관리 전환… AI·드론 투입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173.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파이낸셜뉴스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2026-07-12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스마트건설 기술실증 지원 확대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174.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파이낸셜뉴스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2026-07-22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은행권 AI 도입 효과(KB국민·하나·우리)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175.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헤럴드경제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2026-06-14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스마트건설 챌린지·EXPO 개최 계획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176.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헤럴드경제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2026-09-15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Global Infrastructure Cooperation…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007" y="1901952"/>
            <a:ext cx="5410047" cy="43708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177. [B]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헤럴드경제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2026-10-01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cuts aging bridge safety…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178. [C]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AI Weekly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2026-09-29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Kuaishou's Kling Ships Kling 4.0…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179. [C]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Hacker News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2026-10-08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Hacker News 첫 화면(날짜별)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180. [C]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MuseGen(경쟁사 블로그)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2026-10-08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Udio Review 2026</a:t>
            </a:r>
          </a:p>
          <a:p>
            <a:pPr algn="l" eaLnBrk="0">
              <a:lnSpc>
                <a:spcPts val="1820"/>
              </a:lnSpc>
            </a:pPr>
            <a:r>
              <a:rPr sz="1400" b="1" lang="ko-KR" altLang="en-US">
                <a:solidFill>
                  <a:srgbClr val="0A7369"/>
                </a:solidFill>
                <a:latin typeface="Malgun Gothic"/>
                <a:ea typeface="Malgun Gothic"/>
                <a:cs typeface="Malgun Gothic"/>
              </a:rPr>
              <a:t>181. [C] </a:t>
            </a:r>
            <a:r>
              <a:rPr sz="1400" b="1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The Hans India</a:t>
            </a:r>
            <a:r>
              <a:rPr sz="1400" b="0" lang="ko-KR" altLang="en-US">
                <a:solidFill>
                  <a:srgbClr val="55657D"/>
                </a:solidFill>
                <a:latin typeface="Malgun Gothic"/>
                <a:ea typeface="Malgun Gothic"/>
                <a:cs typeface="Malgun Gothic"/>
              </a:rPr>
              <a:t> · 2026-09-29 — </a:t>
            </a:r>
            <a:r>
              <a:rPr sz="1400" b="0" lang="ko-KR" altLang="en-US">
                <a:solidFill>
                  <a:srgbClr val="111214"/>
                </a:solidFill>
                <a:latin typeface="Malgun Gothic"/>
                <a:ea typeface="Malgun Gothic"/>
                <a:cs typeface="Malgun Gothic"/>
              </a:rPr>
              <a:t>Upcoming AI Updates in October…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트렌드 브리핑 | 2026년 10월 2주차</dc:title>
  <dc:subject>AI를 처음 접하는 사람을 위한 글로벌 신기술 뉴스와 토목설계 특집</dc:subject>
  <dc:creator>Unfade</dc:creator>
  <cp:keywords>AI 트렌드, 생성형 AI, 토목설계 AI</cp:keywords>
  <dc:description>2026-10-14 기준 · 비교 기간 2026-09-15~2026-10-14</dc:description>
  <cp:lastModifiedBy>Unfade</cp:lastModifiedBy>
  <cp:revision>1</cp:revision>
  <dcterms:created xsi:type="dcterms:W3CDTF">2013-01-27T09:14:16Z</dcterms:created>
  <dcterms:modified xsi:type="dcterms:W3CDTF">2013-01-27T09:15:58Z</dcterms:modified>
  <cp:category/>
</cp:coreProperties>
</file>